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Bodoni"/>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Bodoni-bold.fntdata"/><Relationship Id="rId14" Type="http://schemas.openxmlformats.org/officeDocument/2006/relationships/slide" Target="slides/slide9.xml"/><Relationship Id="rId36" Type="http://schemas.openxmlformats.org/officeDocument/2006/relationships/font" Target="fonts/Bodoni-regular.fntdata"/><Relationship Id="rId17" Type="http://schemas.openxmlformats.org/officeDocument/2006/relationships/slide" Target="slides/slide12.xml"/><Relationship Id="rId39" Type="http://schemas.openxmlformats.org/officeDocument/2006/relationships/font" Target="fonts/Bodoni-boldItalic.fntdata"/><Relationship Id="rId16" Type="http://schemas.openxmlformats.org/officeDocument/2006/relationships/slide" Target="slides/slide11.xml"/><Relationship Id="rId38" Type="http://schemas.openxmlformats.org/officeDocument/2006/relationships/font" Target="fonts/Bodoni-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rgbClr val="FAFAFA"/>
            </a:gs>
            <a:gs pos="100000">
              <a:srgbClr val="CECECE"/>
            </a:gs>
          </a:gsLst>
          <a:lin ang="54000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ocs.python.org/3/tutorial/datastructures.html#list-comprehensions" TargetMode="External"/><Relationship Id="rId4" Type="http://schemas.openxmlformats.org/officeDocument/2006/relationships/hyperlink" Target="http://stackoverflow.com/documentation/python/2343/iterables-and-iterators" TargetMode="External"/><Relationship Id="rId5" Type="http://schemas.openxmlformats.org/officeDocument/2006/relationships/hyperlink" Target="https://docs.python.org/3/library/stdtypes.html#truth-value-testing" TargetMode="External"/><Relationship Id="rId6" Type="http://schemas.openxmlformats.org/officeDocument/2006/relationships/hyperlink" Target="http://stackoverflow.com/documentation/python/292/generators#t=20160902095626895949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iki.python.org/moin/PythonSpeed/PerformanceTips#Loops" TargetMode="External"/><Relationship Id="rId4" Type="http://schemas.openxmlformats.org/officeDocument/2006/relationships/hyperlink" Target="http://stackoverflow.com/questions/39518899/3-array-generators-faster-than-1-for-loop/39519661#39519661" TargetMode="Externa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List Comprehensions</a:t>
            </a:r>
            <a:endParaRPr/>
          </a:p>
        </p:txBody>
      </p:sp>
      <p:sp>
        <p:nvSpPr>
          <p:cNvPr id="85" name="Google Shape;85;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List Comprehensions</a:t>
            </a:r>
            <a:endParaRPr/>
          </a:p>
        </p:txBody>
      </p:sp>
      <p:sp>
        <p:nvSpPr>
          <p:cNvPr id="91" name="Google Shape;9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List comprehensions in Python are concise, syntactic constructs. They can be utilized to generate lists from other lists by applying functions to each element in the list. The following section explains and demonstrates the use of these expressions.</a:t>
            </a:r>
            <a:endParaRPr/>
          </a:p>
          <a:p>
            <a:pPr indent="-228600" lvl="0" marL="228600" rtl="0" algn="l">
              <a:lnSpc>
                <a:spcPct val="100000"/>
              </a:lnSpc>
              <a:spcBef>
                <a:spcPts val="0"/>
              </a:spcBef>
              <a:spcAft>
                <a:spcPts val="0"/>
              </a:spcAft>
              <a:buClr>
                <a:srgbClr val="242729"/>
              </a:buClr>
              <a:buSzPts val="1600"/>
              <a:buChar char="•"/>
            </a:pPr>
            <a:r>
              <a:rPr b="0" i="0" lang="en-US" sz="1600" u="none" cap="none" strike="noStrike">
                <a:solidFill>
                  <a:srgbClr val="242729"/>
                </a:solidFill>
                <a:latin typeface="Arial"/>
                <a:ea typeface="Arial"/>
                <a:cs typeface="Arial"/>
                <a:sym typeface="Arial"/>
              </a:rPr>
              <a:t>A </a:t>
            </a:r>
            <a:r>
              <a:rPr b="0" i="0" lang="en-US" sz="1600" u="sng" cap="none" strike="noStrike">
                <a:solidFill>
                  <a:schemeClr val="hlink"/>
                </a:solidFill>
                <a:latin typeface="Arial"/>
                <a:ea typeface="Arial"/>
                <a:cs typeface="Arial"/>
                <a:sym typeface="Arial"/>
                <a:hlinkClick r:id="rId3"/>
              </a:rPr>
              <a:t>list comprehension</a:t>
            </a:r>
            <a:r>
              <a:rPr b="0" i="0" lang="en-US" sz="1600" u="none" cap="none" strike="noStrike">
                <a:solidFill>
                  <a:srgbClr val="242729"/>
                </a:solidFill>
                <a:latin typeface="Arial"/>
                <a:ea typeface="Arial"/>
                <a:cs typeface="Arial"/>
                <a:sym typeface="Arial"/>
              </a:rPr>
              <a:t> creates a new </a:t>
            </a:r>
            <a:r>
              <a:rPr b="0" i="0" lang="en-US" sz="1400" u="none" cap="none" strike="noStrike">
                <a:solidFill>
                  <a:srgbClr val="242729"/>
                </a:solidFill>
                <a:latin typeface="Consolas"/>
                <a:ea typeface="Consolas"/>
                <a:cs typeface="Consolas"/>
                <a:sym typeface="Consolas"/>
              </a:rPr>
              <a:t>list</a:t>
            </a:r>
            <a:r>
              <a:rPr b="0" i="0" lang="en-US" sz="1600" u="none" cap="none" strike="noStrike">
                <a:solidFill>
                  <a:srgbClr val="242729"/>
                </a:solidFill>
                <a:latin typeface="Arial"/>
                <a:ea typeface="Arial"/>
                <a:cs typeface="Arial"/>
                <a:sym typeface="Arial"/>
              </a:rPr>
              <a:t> by applying an expression to each element of an </a:t>
            </a:r>
            <a:r>
              <a:rPr b="0" i="0" lang="en-US" sz="1600" u="sng" cap="none" strike="noStrike">
                <a:solidFill>
                  <a:schemeClr val="hlink"/>
                </a:solidFill>
                <a:latin typeface="Arial"/>
                <a:ea typeface="Arial"/>
                <a:cs typeface="Arial"/>
                <a:sym typeface="Arial"/>
                <a:hlinkClick r:id="rId4"/>
              </a:rPr>
              <a:t>iterable</a:t>
            </a:r>
            <a:r>
              <a:rPr b="0" i="0" lang="en-US" sz="1600" u="none" cap="none" strike="noStrike">
                <a:solidFill>
                  <a:srgbClr val="242729"/>
                </a:solidFill>
                <a:latin typeface="Arial"/>
                <a:ea typeface="Arial"/>
                <a:cs typeface="Arial"/>
                <a:sym typeface="Arial"/>
              </a:rPr>
              <a:t>. The most basic form is:</a:t>
            </a:r>
            <a:endParaRPr b="0" i="0" sz="1600" u="none" cap="none" strike="noStrike">
              <a:solidFill>
                <a:srgbClr val="303336"/>
              </a:solidFill>
              <a:latin typeface="Arial"/>
              <a:ea typeface="Arial"/>
              <a:cs typeface="Arial"/>
              <a:sym typeface="Arial"/>
            </a:endParaRPr>
          </a:p>
          <a:p>
            <a:pPr indent="0" lvl="0" marL="0" rtl="0" algn="l">
              <a:lnSpc>
                <a:spcPct val="100000"/>
              </a:lnSpc>
              <a:spcBef>
                <a:spcPts val="0"/>
              </a:spcBef>
              <a:spcAft>
                <a:spcPts val="0"/>
              </a:spcAft>
              <a:buClr>
                <a:srgbClr val="303336"/>
              </a:buClr>
              <a:buSzPts val="1600"/>
              <a:buNone/>
            </a:pPr>
            <a:r>
              <a:rPr b="0" i="0" lang="en-US" sz="1600" u="none" cap="none" strike="noStrike">
                <a:solidFill>
                  <a:srgbClr val="303336"/>
                </a:solidFill>
                <a:latin typeface="Courier New"/>
                <a:ea typeface="Courier New"/>
                <a:cs typeface="Courier New"/>
                <a:sym typeface="Courier New"/>
              </a:rPr>
              <a:t>[ &lt;expression&gt; </a:t>
            </a:r>
            <a:r>
              <a:rPr b="0" i="0" lang="en-US" sz="1600" u="none" cap="none" strike="noStrike">
                <a:solidFill>
                  <a:srgbClr val="101094"/>
                </a:solidFill>
                <a:latin typeface="Courier New"/>
                <a:ea typeface="Courier New"/>
                <a:cs typeface="Courier New"/>
                <a:sym typeface="Courier New"/>
              </a:rPr>
              <a:t>for</a:t>
            </a:r>
            <a:r>
              <a:rPr b="0" i="0" lang="en-US" sz="1600" u="none" cap="none" strike="noStrike">
                <a:solidFill>
                  <a:srgbClr val="303336"/>
                </a:solidFill>
                <a:latin typeface="Courier New"/>
                <a:ea typeface="Courier New"/>
                <a:cs typeface="Courier New"/>
                <a:sym typeface="Courier New"/>
              </a:rPr>
              <a:t> &lt;element&gt; </a:t>
            </a:r>
            <a:r>
              <a:rPr b="0" i="0" lang="en-US" sz="1600" u="none" cap="none" strike="noStrike">
                <a:solidFill>
                  <a:srgbClr val="101094"/>
                </a:solidFill>
                <a:latin typeface="Courier New"/>
                <a:ea typeface="Courier New"/>
                <a:cs typeface="Courier New"/>
                <a:sym typeface="Courier New"/>
              </a:rPr>
              <a:t>in</a:t>
            </a:r>
            <a:r>
              <a:rPr b="0" i="0" lang="en-US" sz="1600" u="none" cap="none" strike="noStrike">
                <a:solidFill>
                  <a:srgbClr val="303336"/>
                </a:solidFill>
                <a:latin typeface="Courier New"/>
                <a:ea typeface="Courier New"/>
                <a:cs typeface="Courier New"/>
                <a:sym typeface="Courier New"/>
              </a:rPr>
              <a:t> &lt;iterable&gt; ]</a:t>
            </a:r>
            <a:endParaRPr/>
          </a:p>
          <a:p>
            <a:pPr indent="0" lvl="0" marL="0" rtl="0" algn="l">
              <a:lnSpc>
                <a:spcPct val="100000"/>
              </a:lnSpc>
              <a:spcBef>
                <a:spcPts val="0"/>
              </a:spcBef>
              <a:spcAft>
                <a:spcPts val="0"/>
              </a:spcAft>
              <a:buClr>
                <a:schemeClr val="dk1"/>
              </a:buClr>
              <a:buSzPts val="1200"/>
              <a:buNone/>
            </a:pPr>
            <a:r>
              <a:t/>
            </a:r>
            <a:endParaRPr b="0" i="0" sz="1200" u="none" cap="none" strike="noStrike">
              <a:solidFill>
                <a:schemeClr val="dk1"/>
              </a:solidFill>
            </a:endParaRPr>
          </a:p>
          <a:p>
            <a:pPr indent="-228600" lvl="0" marL="228600" rtl="0" algn="l">
              <a:lnSpc>
                <a:spcPct val="100000"/>
              </a:lnSpc>
              <a:spcBef>
                <a:spcPts val="0"/>
              </a:spcBef>
              <a:spcAft>
                <a:spcPts val="0"/>
              </a:spcAft>
              <a:buClr>
                <a:srgbClr val="242729"/>
              </a:buClr>
              <a:buSzPts val="1600"/>
              <a:buChar char="•"/>
            </a:pPr>
            <a:r>
              <a:rPr b="0" i="0" lang="en-US" sz="1600" u="none" cap="none" strike="noStrike">
                <a:solidFill>
                  <a:srgbClr val="242729"/>
                </a:solidFill>
                <a:latin typeface="Arial"/>
                <a:ea typeface="Arial"/>
                <a:cs typeface="Arial"/>
                <a:sym typeface="Arial"/>
              </a:rPr>
              <a:t>There's also an optional 'if' condition:</a:t>
            </a:r>
            <a:endParaRPr b="0" i="0" sz="1600" u="none" cap="none" strike="noStrike">
              <a:solidFill>
                <a:srgbClr val="303336"/>
              </a:solidFill>
              <a:latin typeface="Arial"/>
              <a:ea typeface="Arial"/>
              <a:cs typeface="Arial"/>
              <a:sym typeface="Arial"/>
            </a:endParaRPr>
          </a:p>
          <a:p>
            <a:pPr indent="0" lvl="0" marL="0" rtl="0" algn="l">
              <a:lnSpc>
                <a:spcPct val="100000"/>
              </a:lnSpc>
              <a:spcBef>
                <a:spcPts val="0"/>
              </a:spcBef>
              <a:spcAft>
                <a:spcPts val="0"/>
              </a:spcAft>
              <a:buClr>
                <a:srgbClr val="303336"/>
              </a:buClr>
              <a:buSzPts val="1600"/>
              <a:buNone/>
            </a:pPr>
            <a:r>
              <a:rPr b="0" i="0" lang="en-US" sz="1600" u="none" cap="none" strike="noStrike">
                <a:solidFill>
                  <a:srgbClr val="303336"/>
                </a:solidFill>
                <a:latin typeface="Courier New"/>
                <a:ea typeface="Courier New"/>
                <a:cs typeface="Courier New"/>
                <a:sym typeface="Courier New"/>
              </a:rPr>
              <a:t>[ &lt;expression&gt; </a:t>
            </a:r>
            <a:r>
              <a:rPr b="0" i="0" lang="en-US" sz="1600" u="none" cap="none" strike="noStrike">
                <a:solidFill>
                  <a:srgbClr val="101094"/>
                </a:solidFill>
                <a:latin typeface="Courier New"/>
                <a:ea typeface="Courier New"/>
                <a:cs typeface="Courier New"/>
                <a:sym typeface="Courier New"/>
              </a:rPr>
              <a:t>for</a:t>
            </a:r>
            <a:r>
              <a:rPr b="0" i="0" lang="en-US" sz="1600" u="none" cap="none" strike="noStrike">
                <a:solidFill>
                  <a:srgbClr val="303336"/>
                </a:solidFill>
                <a:latin typeface="Courier New"/>
                <a:ea typeface="Courier New"/>
                <a:cs typeface="Courier New"/>
                <a:sym typeface="Courier New"/>
              </a:rPr>
              <a:t> &lt;element&gt; </a:t>
            </a:r>
            <a:r>
              <a:rPr b="0" i="0" lang="en-US" sz="1600" u="none" cap="none" strike="noStrike">
                <a:solidFill>
                  <a:srgbClr val="101094"/>
                </a:solidFill>
                <a:latin typeface="Courier New"/>
                <a:ea typeface="Courier New"/>
                <a:cs typeface="Courier New"/>
                <a:sym typeface="Courier New"/>
              </a:rPr>
              <a:t>in</a:t>
            </a:r>
            <a:r>
              <a:rPr b="0" i="0" lang="en-US" sz="1600" u="none" cap="none" strike="noStrike">
                <a:solidFill>
                  <a:srgbClr val="303336"/>
                </a:solidFill>
                <a:latin typeface="Courier New"/>
                <a:ea typeface="Courier New"/>
                <a:cs typeface="Courier New"/>
                <a:sym typeface="Courier New"/>
              </a:rPr>
              <a:t> &lt;iterable&gt; </a:t>
            </a:r>
            <a:r>
              <a:rPr b="0" i="0" lang="en-US" sz="1600" u="none" cap="none" strike="noStrike">
                <a:solidFill>
                  <a:srgbClr val="101094"/>
                </a:solidFill>
                <a:latin typeface="Courier New"/>
                <a:ea typeface="Courier New"/>
                <a:cs typeface="Courier New"/>
                <a:sym typeface="Courier New"/>
              </a:rPr>
              <a:t>if</a:t>
            </a:r>
            <a:r>
              <a:rPr b="0" i="0" lang="en-US" sz="1600" u="none" cap="none" strike="noStrike">
                <a:solidFill>
                  <a:srgbClr val="303336"/>
                </a:solidFill>
                <a:latin typeface="Courier New"/>
                <a:ea typeface="Courier New"/>
                <a:cs typeface="Courier New"/>
                <a:sym typeface="Courier New"/>
              </a:rPr>
              <a:t> &lt;condition&gt; ]</a:t>
            </a:r>
            <a:endParaRPr/>
          </a:p>
          <a:p>
            <a:pPr indent="0" lvl="0" marL="0" rtl="0" algn="l">
              <a:lnSpc>
                <a:spcPct val="100000"/>
              </a:lnSpc>
              <a:spcBef>
                <a:spcPts val="0"/>
              </a:spcBef>
              <a:spcAft>
                <a:spcPts val="0"/>
              </a:spcAft>
              <a:buClr>
                <a:schemeClr val="dk1"/>
              </a:buClr>
              <a:buSzPts val="1200"/>
              <a:buNone/>
            </a:pPr>
            <a:r>
              <a:t/>
            </a:r>
            <a:endParaRPr b="0" i="0" sz="1200" u="none" cap="none" strike="noStrike">
              <a:solidFill>
                <a:schemeClr val="dk1"/>
              </a:solidFill>
            </a:endParaRPr>
          </a:p>
          <a:p>
            <a:pPr indent="0" lvl="0" marL="0" rtl="0" algn="l">
              <a:lnSpc>
                <a:spcPct val="100000"/>
              </a:lnSpc>
              <a:spcBef>
                <a:spcPts val="0"/>
              </a:spcBef>
              <a:spcAft>
                <a:spcPts val="0"/>
              </a:spcAft>
              <a:buClr>
                <a:srgbClr val="242729"/>
              </a:buClr>
              <a:buSzPts val="1600"/>
              <a:buNone/>
            </a:pPr>
            <a:r>
              <a:rPr b="0" i="0" lang="en-US" sz="1600" u="none" cap="none" strike="noStrike">
                <a:solidFill>
                  <a:srgbClr val="242729"/>
                </a:solidFill>
                <a:latin typeface="Arial"/>
                <a:ea typeface="Arial"/>
                <a:cs typeface="Arial"/>
                <a:sym typeface="Arial"/>
              </a:rPr>
              <a:t>Each </a:t>
            </a:r>
            <a:r>
              <a:rPr b="0" i="0" lang="en-US" sz="1400" u="none" cap="none" strike="noStrike">
                <a:solidFill>
                  <a:srgbClr val="242729"/>
                </a:solidFill>
                <a:latin typeface="Consolas"/>
                <a:ea typeface="Consolas"/>
                <a:cs typeface="Consolas"/>
                <a:sym typeface="Consolas"/>
              </a:rPr>
              <a:t>&lt;element&gt;</a:t>
            </a:r>
            <a:r>
              <a:rPr b="0" i="0" lang="en-US" sz="1600" u="none" cap="none" strike="noStrike">
                <a:solidFill>
                  <a:srgbClr val="242729"/>
                </a:solidFill>
                <a:latin typeface="Arial"/>
                <a:ea typeface="Arial"/>
                <a:cs typeface="Arial"/>
                <a:sym typeface="Arial"/>
              </a:rPr>
              <a:t> in the </a:t>
            </a:r>
            <a:r>
              <a:rPr b="0" i="0" lang="en-US" sz="1400" u="none" cap="none" strike="noStrike">
                <a:solidFill>
                  <a:srgbClr val="242729"/>
                </a:solidFill>
                <a:latin typeface="Consolas"/>
                <a:ea typeface="Consolas"/>
                <a:cs typeface="Consolas"/>
                <a:sym typeface="Consolas"/>
              </a:rPr>
              <a:t>&lt;iterable&gt;</a:t>
            </a:r>
            <a:r>
              <a:rPr b="0" i="0" lang="en-US" sz="1600" u="none" cap="none" strike="noStrike">
                <a:solidFill>
                  <a:srgbClr val="242729"/>
                </a:solidFill>
                <a:latin typeface="Arial"/>
                <a:ea typeface="Arial"/>
                <a:cs typeface="Arial"/>
                <a:sym typeface="Arial"/>
              </a:rPr>
              <a:t> is plugged in to the </a:t>
            </a:r>
            <a:r>
              <a:rPr b="0" i="0" lang="en-US" sz="1400" u="none" cap="none" strike="noStrike">
                <a:solidFill>
                  <a:srgbClr val="242729"/>
                </a:solidFill>
                <a:latin typeface="Consolas"/>
                <a:ea typeface="Consolas"/>
                <a:cs typeface="Consolas"/>
                <a:sym typeface="Consolas"/>
              </a:rPr>
              <a:t>&lt;expression&gt;</a:t>
            </a:r>
            <a:r>
              <a:rPr b="0" i="0" lang="en-US" sz="1600" u="none" cap="none" strike="noStrike">
                <a:solidFill>
                  <a:srgbClr val="242729"/>
                </a:solidFill>
                <a:latin typeface="Arial"/>
                <a:ea typeface="Arial"/>
                <a:cs typeface="Arial"/>
                <a:sym typeface="Arial"/>
              </a:rPr>
              <a:t> if the (optional) </a:t>
            </a:r>
            <a:r>
              <a:rPr b="0" i="0" lang="en-US" sz="1400" u="none" cap="none" strike="noStrike">
                <a:solidFill>
                  <a:srgbClr val="242729"/>
                </a:solidFill>
                <a:latin typeface="Consolas"/>
                <a:ea typeface="Consolas"/>
                <a:cs typeface="Consolas"/>
                <a:sym typeface="Consolas"/>
              </a:rPr>
              <a:t>&lt;condition&gt;</a:t>
            </a:r>
            <a:r>
              <a:rPr b="0" i="0" lang="en-US" sz="1600" u="sng" cap="none" strike="noStrike">
                <a:solidFill>
                  <a:schemeClr val="hlink"/>
                </a:solidFill>
                <a:latin typeface="Arial"/>
                <a:ea typeface="Arial"/>
                <a:cs typeface="Arial"/>
                <a:sym typeface="Arial"/>
                <a:hlinkClick r:id="rId5"/>
              </a:rPr>
              <a:t>evaluates to true</a:t>
            </a:r>
            <a:r>
              <a:rPr b="0" i="0" lang="en-US" sz="1600" u="none" cap="none" strike="noStrike">
                <a:solidFill>
                  <a:srgbClr val="242729"/>
                </a:solidFill>
                <a:latin typeface="Arial"/>
                <a:ea typeface="Arial"/>
                <a:cs typeface="Arial"/>
                <a:sym typeface="Arial"/>
              </a:rPr>
              <a:t> . All results are returned at once in the new list. </a:t>
            </a:r>
            <a:r>
              <a:rPr b="0" i="0" lang="en-US" sz="1600" u="sng" cap="none" strike="noStrike">
                <a:solidFill>
                  <a:schemeClr val="hlink"/>
                </a:solidFill>
                <a:latin typeface="Arial"/>
                <a:ea typeface="Arial"/>
                <a:cs typeface="Arial"/>
                <a:sym typeface="Arial"/>
                <a:hlinkClick r:id="rId6"/>
              </a:rPr>
              <a:t>Generator expressions</a:t>
            </a:r>
            <a:r>
              <a:rPr b="0" i="0" lang="en-US" sz="1600" u="none" cap="none" strike="noStrike">
                <a:solidFill>
                  <a:srgbClr val="242729"/>
                </a:solidFill>
                <a:latin typeface="Arial"/>
                <a:ea typeface="Arial"/>
                <a:cs typeface="Arial"/>
                <a:sym typeface="Arial"/>
              </a:rPr>
              <a:t> are evaluated lazily, but list comprehensions evaluate the entire iterator immediately - consuming memory proportional to the iterator's length.</a:t>
            </a:r>
            <a:endParaRPr b="0" i="0" sz="1200" u="none" cap="none" strike="noStrike">
              <a:solidFill>
                <a:schemeClr val="dk1"/>
              </a:solidFill>
            </a:endParaRPr>
          </a:p>
          <a:p>
            <a:pPr indent="0" lvl="0" marL="0" rtl="0" algn="l">
              <a:lnSpc>
                <a:spcPct val="100000"/>
              </a:lnSpc>
              <a:spcBef>
                <a:spcPts val="0"/>
              </a:spcBef>
              <a:spcAft>
                <a:spcPts val="0"/>
              </a:spcAft>
              <a:buClr>
                <a:srgbClr val="242729"/>
              </a:buClr>
              <a:buSzPts val="1600"/>
              <a:buNone/>
            </a:pPr>
            <a:r>
              <a:rPr b="0" i="0" lang="en-US" sz="1600" u="none" cap="none" strike="noStrike">
                <a:solidFill>
                  <a:srgbClr val="242729"/>
                </a:solidFill>
                <a:latin typeface="Arial"/>
                <a:ea typeface="Arial"/>
                <a:cs typeface="Arial"/>
                <a:sym typeface="Arial"/>
              </a:rPr>
              <a:t>To create a </a:t>
            </a:r>
            <a:r>
              <a:rPr b="0" i="0" lang="en-US" sz="1400" u="none" cap="none" strike="noStrike">
                <a:solidFill>
                  <a:srgbClr val="242729"/>
                </a:solidFill>
                <a:latin typeface="Consolas"/>
                <a:ea typeface="Consolas"/>
                <a:cs typeface="Consolas"/>
                <a:sym typeface="Consolas"/>
              </a:rPr>
              <a:t>list</a:t>
            </a:r>
            <a:r>
              <a:rPr b="0" i="0" lang="en-US" sz="1600" u="none" cap="none" strike="noStrike">
                <a:solidFill>
                  <a:srgbClr val="242729"/>
                </a:solidFill>
                <a:latin typeface="Arial"/>
                <a:ea typeface="Arial"/>
                <a:cs typeface="Arial"/>
                <a:sym typeface="Arial"/>
              </a:rPr>
              <a:t> of squared integers:</a:t>
            </a:r>
            <a:endParaRPr b="0" i="0" sz="1600" u="none" cap="none" strike="noStrike">
              <a:solidFill>
                <a:srgbClr val="303336"/>
              </a:solidFill>
              <a:latin typeface="Arial"/>
              <a:ea typeface="Arial"/>
              <a:cs typeface="Arial"/>
              <a:sym typeface="Arial"/>
            </a:endParaRPr>
          </a:p>
          <a:p>
            <a:pPr indent="0" lvl="0" marL="0" rtl="0" algn="l">
              <a:lnSpc>
                <a:spcPct val="100000"/>
              </a:lnSpc>
              <a:spcBef>
                <a:spcPts val="0"/>
              </a:spcBef>
              <a:spcAft>
                <a:spcPts val="0"/>
              </a:spcAft>
              <a:buClr>
                <a:srgbClr val="303336"/>
              </a:buClr>
              <a:buSzPts val="1600"/>
              <a:buNone/>
            </a:pPr>
            <a:r>
              <a:rPr b="0" i="0" lang="en-US" sz="1600" u="none" cap="none" strike="noStrike">
                <a:solidFill>
                  <a:srgbClr val="303336"/>
                </a:solidFill>
                <a:latin typeface="Courier New"/>
                <a:ea typeface="Courier New"/>
                <a:cs typeface="Courier New"/>
                <a:sym typeface="Courier New"/>
              </a:rPr>
              <a:t>squares = [x * x </a:t>
            </a:r>
            <a:r>
              <a:rPr b="0" i="0" lang="en-US" sz="1600" u="none" cap="none" strike="noStrike">
                <a:solidFill>
                  <a:srgbClr val="101094"/>
                </a:solidFill>
                <a:latin typeface="Courier New"/>
                <a:ea typeface="Courier New"/>
                <a:cs typeface="Courier New"/>
                <a:sym typeface="Courier New"/>
              </a:rPr>
              <a:t>for</a:t>
            </a:r>
            <a:r>
              <a:rPr b="0" i="0" lang="en-US" sz="1600" u="none" cap="none" strike="noStrike">
                <a:solidFill>
                  <a:srgbClr val="303336"/>
                </a:solidFill>
                <a:latin typeface="Courier New"/>
                <a:ea typeface="Courier New"/>
                <a:cs typeface="Courier New"/>
                <a:sym typeface="Courier New"/>
              </a:rPr>
              <a:t> x </a:t>
            </a:r>
            <a:r>
              <a:rPr b="0" i="0" lang="en-US" sz="1600" u="none" cap="none" strike="noStrike">
                <a:solidFill>
                  <a:srgbClr val="101094"/>
                </a:solidFill>
                <a:latin typeface="Courier New"/>
                <a:ea typeface="Courier New"/>
                <a:cs typeface="Courier New"/>
                <a:sym typeface="Courier New"/>
              </a:rPr>
              <a:t>in</a:t>
            </a:r>
            <a:r>
              <a:rPr b="0" i="0" lang="en-US" sz="1600" u="none" cap="none" strike="noStrike">
                <a:solidFill>
                  <a:srgbClr val="303336"/>
                </a:solidFill>
                <a:latin typeface="Courier New"/>
                <a:ea typeface="Courier New"/>
                <a:cs typeface="Courier New"/>
                <a:sym typeface="Courier New"/>
              </a:rPr>
              <a:t> (</a:t>
            </a:r>
            <a:r>
              <a:rPr b="0" i="0" lang="en-US" sz="1600" u="none" cap="none" strike="noStrike">
                <a:solidFill>
                  <a:srgbClr val="7D2727"/>
                </a:solidFill>
                <a:latin typeface="Courier New"/>
                <a:ea typeface="Courier New"/>
                <a:cs typeface="Courier New"/>
                <a:sym typeface="Courier New"/>
              </a:rPr>
              <a:t>1</a:t>
            </a:r>
            <a:r>
              <a:rPr b="0" i="0" lang="en-US" sz="1600" u="none" cap="none" strike="noStrike">
                <a:solidFill>
                  <a:srgbClr val="303336"/>
                </a:solidFill>
                <a:latin typeface="Courier New"/>
                <a:ea typeface="Courier New"/>
                <a:cs typeface="Courier New"/>
                <a:sym typeface="Courier New"/>
              </a:rPr>
              <a:t>, </a:t>
            </a:r>
            <a:r>
              <a:rPr b="0" i="0" lang="en-US" sz="1600" u="none" cap="none" strike="noStrike">
                <a:solidFill>
                  <a:srgbClr val="7D2727"/>
                </a:solidFill>
                <a:latin typeface="Courier New"/>
                <a:ea typeface="Courier New"/>
                <a:cs typeface="Courier New"/>
                <a:sym typeface="Courier New"/>
              </a:rPr>
              <a:t>2</a:t>
            </a:r>
            <a:r>
              <a:rPr b="0" i="0" lang="en-US" sz="1600" u="none" cap="none" strike="noStrike">
                <a:solidFill>
                  <a:srgbClr val="303336"/>
                </a:solidFill>
                <a:latin typeface="Courier New"/>
                <a:ea typeface="Courier New"/>
                <a:cs typeface="Courier New"/>
                <a:sym typeface="Courier New"/>
              </a:rPr>
              <a:t>, </a:t>
            </a:r>
            <a:r>
              <a:rPr b="0" i="0" lang="en-US" sz="1600" u="none" cap="none" strike="noStrike">
                <a:solidFill>
                  <a:srgbClr val="7D2727"/>
                </a:solidFill>
                <a:latin typeface="Courier New"/>
                <a:ea typeface="Courier New"/>
                <a:cs typeface="Courier New"/>
                <a:sym typeface="Courier New"/>
              </a:rPr>
              <a:t>3</a:t>
            </a:r>
            <a:r>
              <a:rPr b="0" i="0" lang="en-US" sz="1600" u="none" cap="none" strike="noStrike">
                <a:solidFill>
                  <a:srgbClr val="303336"/>
                </a:solidFill>
                <a:latin typeface="Courier New"/>
                <a:ea typeface="Courier New"/>
                <a:cs typeface="Courier New"/>
                <a:sym typeface="Courier New"/>
              </a:rPr>
              <a:t>, </a:t>
            </a:r>
            <a:r>
              <a:rPr b="0" i="0" lang="en-US" sz="1600" u="none" cap="none" strike="noStrike">
                <a:solidFill>
                  <a:srgbClr val="7D2727"/>
                </a:solidFill>
                <a:latin typeface="Courier New"/>
                <a:ea typeface="Courier New"/>
                <a:cs typeface="Courier New"/>
                <a:sym typeface="Courier New"/>
              </a:rPr>
              <a:t>4</a:t>
            </a:r>
            <a:r>
              <a:rPr b="0" i="0" lang="en-US" sz="1600" u="none" cap="none" strike="noStrike">
                <a:solidFill>
                  <a:srgbClr val="303336"/>
                </a:solidFill>
                <a:latin typeface="Courier New"/>
                <a:ea typeface="Courier New"/>
                <a:cs typeface="Courier New"/>
                <a:sym typeface="Courier New"/>
              </a:rPr>
              <a:t>)] </a:t>
            </a:r>
            <a:endParaRPr/>
          </a:p>
          <a:p>
            <a:pPr indent="0" lvl="0" marL="0" rtl="0" algn="l">
              <a:lnSpc>
                <a:spcPct val="100000"/>
              </a:lnSpc>
              <a:spcBef>
                <a:spcPts val="0"/>
              </a:spcBef>
              <a:spcAft>
                <a:spcPts val="0"/>
              </a:spcAft>
              <a:buClr>
                <a:srgbClr val="858C93"/>
              </a:buClr>
              <a:buSzPts val="1600"/>
              <a:buNone/>
            </a:pPr>
            <a:r>
              <a:rPr b="0" i="0" lang="en-US" sz="1600" u="none" cap="none" strike="noStrike">
                <a:solidFill>
                  <a:srgbClr val="858C93"/>
                </a:solidFill>
                <a:latin typeface="Courier New"/>
                <a:ea typeface="Courier New"/>
                <a:cs typeface="Courier New"/>
                <a:sym typeface="Courier New"/>
              </a:rPr>
              <a:t># squares: [1, 4, 9, 16]</a:t>
            </a:r>
            <a:r>
              <a:rPr b="0" i="0" lang="en-US" sz="1200" u="none" cap="none" strike="noStrike">
                <a:solidFill>
                  <a:schemeClr val="dk1"/>
                </a:solidFill>
                <a:latin typeface="Courier New"/>
                <a:ea typeface="Courier New"/>
                <a:cs typeface="Courier New"/>
                <a:sym typeface="Courier New"/>
              </a:rPr>
              <a:t> </a:t>
            </a:r>
            <a:endParaRPr b="0" i="0" sz="3600" u="none" cap="none" strike="noStrike">
              <a:solidFill>
                <a:schemeClr val="dk1"/>
              </a:solidFill>
              <a:latin typeface="Courier New"/>
              <a:ea typeface="Courier New"/>
              <a:cs typeface="Courier New"/>
              <a:sym typeface="Courier New"/>
            </a:endParaRPr>
          </a:p>
          <a:p>
            <a:pPr indent="-127000" lvl="0" marL="228600" rtl="0" algn="l">
              <a:lnSpc>
                <a:spcPct val="90000"/>
              </a:lnSpc>
              <a:spcBef>
                <a:spcPts val="1000"/>
              </a:spcBef>
              <a:spcAft>
                <a:spcPts val="0"/>
              </a:spcAft>
              <a:buClr>
                <a:schemeClr val="dk1"/>
              </a:buClr>
              <a:buSzPts val="1600"/>
              <a:buNone/>
            </a:pPr>
            <a:r>
              <a:t/>
            </a:r>
            <a:endParaRPr sz="1600"/>
          </a:p>
          <a:p>
            <a:pPr indent="0" lvl="0" marL="0" rtl="0" algn="l">
              <a:lnSpc>
                <a:spcPct val="90000"/>
              </a:lnSpc>
              <a:spcBef>
                <a:spcPts val="1000"/>
              </a:spcBef>
              <a:spcAft>
                <a:spcPts val="0"/>
              </a:spcAft>
              <a:buClr>
                <a:schemeClr val="dk1"/>
              </a:buClr>
              <a:buSzPts val="1600"/>
              <a:buNone/>
            </a:pPr>
            <a:r>
              <a:t/>
            </a:r>
            <a:endParaRPr sz="1600"/>
          </a:p>
        </p:txBody>
      </p:sp>
      <p:sp>
        <p:nvSpPr>
          <p:cNvPr id="92" name="Google Shape;92;p14"/>
          <p:cNvSpPr/>
          <p:nvPr/>
        </p:nvSpPr>
        <p:spPr>
          <a:xfrm>
            <a:off x="0" y="13156"/>
            <a:ext cx="65" cy="430887"/>
          </a:xfrm>
          <a:prstGeom prst="rect">
            <a:avLst/>
          </a:prstGeom>
          <a:solidFill>
            <a:srgbClr val="EFF0F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2729"/>
              </a:buClr>
              <a:buSzPts val="1000"/>
              <a:buFont typeface="Arial"/>
              <a:buNone/>
            </a:pPr>
            <a:br>
              <a:rPr b="0" i="0" lang="en-US" sz="1000" u="none" cap="none" strike="noStrike">
                <a:solidFill>
                  <a:srgbClr val="242729"/>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nvSpPr>
        <p:spPr>
          <a:xfrm>
            <a:off x="665018" y="482138"/>
            <a:ext cx="11256049" cy="22621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242729"/>
                </a:solidFill>
                <a:latin typeface="Arial"/>
                <a:ea typeface="Arial"/>
                <a:cs typeface="Arial"/>
                <a:sym typeface="Arial"/>
              </a:rPr>
              <a:t>The </a:t>
            </a:r>
            <a:r>
              <a:rPr b="0" i="0" lang="en-US" sz="1200" u="none" cap="none" strike="noStrike">
                <a:solidFill>
                  <a:srgbClr val="242729"/>
                </a:solidFill>
                <a:latin typeface="Consolas"/>
                <a:ea typeface="Consolas"/>
                <a:cs typeface="Consolas"/>
                <a:sym typeface="Consolas"/>
              </a:rPr>
              <a:t>for</a:t>
            </a:r>
            <a:r>
              <a:rPr b="0" i="0" lang="en-US" sz="1400" u="none" cap="none" strike="noStrike">
                <a:solidFill>
                  <a:srgbClr val="242729"/>
                </a:solidFill>
                <a:latin typeface="Arial"/>
                <a:ea typeface="Arial"/>
                <a:cs typeface="Arial"/>
                <a:sym typeface="Arial"/>
              </a:rPr>
              <a:t> expression sets </a:t>
            </a:r>
            <a:r>
              <a:rPr b="0" i="0" lang="en-US" sz="1200" u="none" cap="none" strike="noStrike">
                <a:solidFill>
                  <a:srgbClr val="242729"/>
                </a:solidFill>
                <a:latin typeface="Consolas"/>
                <a:ea typeface="Consolas"/>
                <a:cs typeface="Consolas"/>
                <a:sym typeface="Consolas"/>
              </a:rPr>
              <a:t>x</a:t>
            </a:r>
            <a:r>
              <a:rPr b="0" i="0" lang="en-US" sz="1400" u="none" cap="none" strike="noStrike">
                <a:solidFill>
                  <a:srgbClr val="242729"/>
                </a:solidFill>
                <a:latin typeface="Arial"/>
                <a:ea typeface="Arial"/>
                <a:cs typeface="Arial"/>
                <a:sym typeface="Arial"/>
              </a:rPr>
              <a:t> to each value in turn from </a:t>
            </a:r>
            <a:r>
              <a:rPr b="0" i="0" lang="en-US" sz="1200" u="none" cap="none" strike="noStrike">
                <a:solidFill>
                  <a:srgbClr val="242729"/>
                </a:solidFill>
                <a:latin typeface="Consolas"/>
                <a:ea typeface="Consolas"/>
                <a:cs typeface="Consolas"/>
                <a:sym typeface="Consolas"/>
              </a:rPr>
              <a:t>(1, 2, 3, 4)</a:t>
            </a:r>
            <a:r>
              <a:rPr b="0" i="0" lang="en-US" sz="1400" u="none" cap="none" strike="noStrike">
                <a:solidFill>
                  <a:srgbClr val="242729"/>
                </a:solidFill>
                <a:latin typeface="Arial"/>
                <a:ea typeface="Arial"/>
                <a:cs typeface="Arial"/>
                <a:sym typeface="Arial"/>
              </a:rPr>
              <a:t>. The result of the expression </a:t>
            </a:r>
            <a:r>
              <a:rPr b="0" i="0" lang="en-US" sz="1200" u="none" cap="none" strike="noStrike">
                <a:solidFill>
                  <a:srgbClr val="242729"/>
                </a:solidFill>
                <a:latin typeface="Consolas"/>
                <a:ea typeface="Consolas"/>
                <a:cs typeface="Consolas"/>
                <a:sym typeface="Consolas"/>
              </a:rPr>
              <a:t>x * x</a:t>
            </a:r>
            <a:r>
              <a:rPr b="0" i="0" lang="en-US" sz="1400" u="none" cap="none" strike="noStrike">
                <a:solidFill>
                  <a:srgbClr val="242729"/>
                </a:solidFill>
                <a:latin typeface="Arial"/>
                <a:ea typeface="Arial"/>
                <a:cs typeface="Arial"/>
                <a:sym typeface="Arial"/>
              </a:rPr>
              <a:t>is appended to an internal </a:t>
            </a:r>
            <a:r>
              <a:rPr b="0" i="0" lang="en-US" sz="1200" u="none" cap="none" strike="noStrike">
                <a:solidFill>
                  <a:srgbClr val="242729"/>
                </a:solidFill>
                <a:latin typeface="Consolas"/>
                <a:ea typeface="Consolas"/>
                <a:cs typeface="Consolas"/>
                <a:sym typeface="Consolas"/>
              </a:rPr>
              <a:t>list</a:t>
            </a:r>
            <a:r>
              <a:rPr b="0" i="0" lang="en-US" sz="1400" u="none" cap="none" strike="noStrike">
                <a:solidFill>
                  <a:srgbClr val="242729"/>
                </a:solidFill>
                <a:latin typeface="Arial"/>
                <a:ea typeface="Arial"/>
                <a:cs typeface="Arial"/>
                <a:sym typeface="Arial"/>
              </a:rPr>
              <a:t>. The internal </a:t>
            </a:r>
            <a:r>
              <a:rPr b="0" i="0" lang="en-US" sz="1200" u="none" cap="none" strike="noStrike">
                <a:solidFill>
                  <a:srgbClr val="242729"/>
                </a:solidFill>
                <a:latin typeface="Consolas"/>
                <a:ea typeface="Consolas"/>
                <a:cs typeface="Consolas"/>
                <a:sym typeface="Consolas"/>
              </a:rPr>
              <a:t>list</a:t>
            </a:r>
            <a:r>
              <a:rPr b="0" i="0" lang="en-US" sz="1400" u="none" cap="none" strike="noStrike">
                <a:solidFill>
                  <a:srgbClr val="242729"/>
                </a:solidFill>
                <a:latin typeface="Arial"/>
                <a:ea typeface="Arial"/>
                <a:cs typeface="Arial"/>
                <a:sym typeface="Arial"/>
              </a:rPr>
              <a:t> is assigned to the variable </a:t>
            </a:r>
            <a:r>
              <a:rPr b="0" i="0" lang="en-US" sz="1200" u="none" cap="none" strike="noStrike">
                <a:solidFill>
                  <a:srgbClr val="242729"/>
                </a:solidFill>
                <a:latin typeface="Consolas"/>
                <a:ea typeface="Consolas"/>
                <a:cs typeface="Consolas"/>
                <a:sym typeface="Consolas"/>
              </a:rPr>
              <a:t>squares</a:t>
            </a:r>
            <a:r>
              <a:rPr b="0" i="0" lang="en-US" sz="1400" u="none" cap="none" strike="noStrike">
                <a:solidFill>
                  <a:srgbClr val="242729"/>
                </a:solidFill>
                <a:latin typeface="Arial"/>
                <a:ea typeface="Arial"/>
                <a:cs typeface="Arial"/>
                <a:sym typeface="Arial"/>
              </a:rPr>
              <a:t> when completed.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242729"/>
                </a:solidFill>
                <a:latin typeface="Arial"/>
                <a:ea typeface="Arial"/>
                <a:cs typeface="Arial"/>
                <a:sym typeface="Arial"/>
              </a:rPr>
              <a:t>Besides a </a:t>
            </a:r>
            <a:r>
              <a:rPr b="0" i="0" lang="en-US" sz="1400" u="sng" cap="none" strike="noStrike">
                <a:solidFill>
                  <a:schemeClr val="hlink"/>
                </a:solidFill>
                <a:latin typeface="Arial"/>
                <a:ea typeface="Arial"/>
                <a:cs typeface="Arial"/>
                <a:sym typeface="Arial"/>
                <a:hlinkClick r:id="rId3"/>
              </a:rPr>
              <a:t>speed increase</a:t>
            </a:r>
            <a:r>
              <a:rPr b="0" i="0" lang="en-US" sz="1400" u="none" cap="none" strike="noStrike">
                <a:solidFill>
                  <a:srgbClr val="242729"/>
                </a:solidFill>
                <a:latin typeface="Arial"/>
                <a:ea typeface="Arial"/>
                <a:cs typeface="Arial"/>
                <a:sym typeface="Arial"/>
              </a:rPr>
              <a:t> (as explained </a:t>
            </a:r>
            <a:r>
              <a:rPr b="0" i="0" lang="en-US" sz="1400" u="sng" cap="none" strike="noStrike">
                <a:solidFill>
                  <a:schemeClr val="hlink"/>
                </a:solidFill>
                <a:latin typeface="Arial"/>
                <a:ea typeface="Arial"/>
                <a:cs typeface="Arial"/>
                <a:sym typeface="Arial"/>
                <a:hlinkClick r:id="rId4"/>
              </a:rPr>
              <a:t>here</a:t>
            </a:r>
            <a:r>
              <a:rPr b="0" i="0" lang="en-US" sz="1400" u="none" cap="none" strike="noStrike">
                <a:solidFill>
                  <a:srgbClr val="242729"/>
                </a:solidFill>
                <a:latin typeface="Arial"/>
                <a:ea typeface="Arial"/>
                <a:cs typeface="Arial"/>
                <a:sym typeface="Arial"/>
              </a:rPr>
              <a:t>), a list comprehension is roughly equivalent to the following for-loop:</a:t>
            </a:r>
            <a:endParaRPr b="0" i="0" sz="1400" u="none" cap="none" strike="noStrike">
              <a:solidFill>
                <a:srgbClr val="303336"/>
              </a:solidFill>
              <a:latin typeface="Arial"/>
              <a:ea typeface="Arial"/>
              <a:cs typeface="Arial"/>
              <a:sym typeface="Arial"/>
            </a:endParaRPr>
          </a:p>
          <a:p>
            <a:pPr indent="0" lvl="0" marL="0" marR="0" rtl="0" algn="l">
              <a:spcBef>
                <a:spcPts val="0"/>
              </a:spcBef>
              <a:spcAft>
                <a:spcPts val="0"/>
              </a:spcAft>
              <a:buNone/>
            </a:pPr>
            <a:r>
              <a:rPr b="0" i="0" lang="en-US" sz="1400" u="none" cap="none" strike="noStrike">
                <a:solidFill>
                  <a:srgbClr val="303336"/>
                </a:solidFill>
                <a:latin typeface="Arial"/>
                <a:ea typeface="Arial"/>
                <a:cs typeface="Arial"/>
                <a:sym typeface="Arial"/>
              </a:rPr>
              <a:t>squares = [] </a:t>
            </a:r>
            <a:endParaRPr/>
          </a:p>
          <a:p>
            <a:pPr indent="0" lvl="0" marL="0" marR="0" rtl="0" algn="l">
              <a:spcBef>
                <a:spcPts val="0"/>
              </a:spcBef>
              <a:spcAft>
                <a:spcPts val="0"/>
              </a:spcAft>
              <a:buNone/>
            </a:pPr>
            <a:r>
              <a:rPr b="0" i="0" lang="en-US" sz="1400" u="none" cap="none" strike="noStrike">
                <a:solidFill>
                  <a:srgbClr val="101094"/>
                </a:solidFill>
                <a:latin typeface="Courier New"/>
                <a:ea typeface="Courier New"/>
                <a:cs typeface="Courier New"/>
                <a:sym typeface="Courier New"/>
              </a:rPr>
              <a:t>for</a:t>
            </a:r>
            <a:r>
              <a:rPr b="0" i="0" lang="en-US" sz="1400" u="none" cap="none" strike="noStrike">
                <a:solidFill>
                  <a:srgbClr val="303336"/>
                </a:solidFill>
                <a:latin typeface="Courier New"/>
                <a:ea typeface="Courier New"/>
                <a:cs typeface="Courier New"/>
                <a:sym typeface="Courier New"/>
              </a:rPr>
              <a:t> x </a:t>
            </a:r>
            <a:r>
              <a:rPr b="0" i="0" lang="en-US" sz="1400" u="none" cap="none" strike="noStrike">
                <a:solidFill>
                  <a:srgbClr val="101094"/>
                </a:solidFill>
                <a:latin typeface="Courier New"/>
                <a:ea typeface="Courier New"/>
                <a:cs typeface="Courier New"/>
                <a:sym typeface="Courier New"/>
              </a:rPr>
              <a:t>in</a:t>
            </a:r>
            <a:r>
              <a:rPr b="0" i="0" lang="en-US" sz="1400" u="none" cap="none" strike="noStrike">
                <a:solidFill>
                  <a:srgbClr val="303336"/>
                </a:solidFill>
                <a:latin typeface="Courier New"/>
                <a:ea typeface="Courier New"/>
                <a:cs typeface="Courier New"/>
                <a:sym typeface="Courier New"/>
              </a:rPr>
              <a:t> (</a:t>
            </a:r>
            <a:r>
              <a:rPr b="0" i="0" lang="en-US" sz="1400" u="none" cap="none" strike="noStrike">
                <a:solidFill>
                  <a:srgbClr val="7D2727"/>
                </a:solidFill>
                <a:latin typeface="Courier New"/>
                <a:ea typeface="Courier New"/>
                <a:cs typeface="Courier New"/>
                <a:sym typeface="Courier New"/>
              </a:rPr>
              <a:t>1</a:t>
            </a:r>
            <a:r>
              <a:rPr b="0" i="0" lang="en-US" sz="1400" u="none" cap="none" strike="noStrike">
                <a:solidFill>
                  <a:srgbClr val="303336"/>
                </a:solidFill>
                <a:latin typeface="Courier New"/>
                <a:ea typeface="Courier New"/>
                <a:cs typeface="Courier New"/>
                <a:sym typeface="Courier New"/>
              </a:rPr>
              <a:t>, </a:t>
            </a:r>
            <a:r>
              <a:rPr b="0" i="0" lang="en-US" sz="1400" u="none" cap="none" strike="noStrike">
                <a:solidFill>
                  <a:srgbClr val="7D2727"/>
                </a:solidFill>
                <a:latin typeface="Courier New"/>
                <a:ea typeface="Courier New"/>
                <a:cs typeface="Courier New"/>
                <a:sym typeface="Courier New"/>
              </a:rPr>
              <a:t>2</a:t>
            </a:r>
            <a:r>
              <a:rPr b="0" i="0" lang="en-US" sz="1400" u="none" cap="none" strike="noStrike">
                <a:solidFill>
                  <a:srgbClr val="303336"/>
                </a:solidFill>
                <a:latin typeface="Courier New"/>
                <a:ea typeface="Courier New"/>
                <a:cs typeface="Courier New"/>
                <a:sym typeface="Courier New"/>
              </a:rPr>
              <a:t>, </a:t>
            </a:r>
            <a:r>
              <a:rPr b="0" i="0" lang="en-US" sz="1400" u="none" cap="none" strike="noStrike">
                <a:solidFill>
                  <a:srgbClr val="7D2727"/>
                </a:solidFill>
                <a:latin typeface="Courier New"/>
                <a:ea typeface="Courier New"/>
                <a:cs typeface="Courier New"/>
                <a:sym typeface="Courier New"/>
              </a:rPr>
              <a:t>3</a:t>
            </a:r>
            <a:r>
              <a:rPr b="0" i="0" lang="en-US" sz="1400" u="none" cap="none" strike="noStrike">
                <a:solidFill>
                  <a:srgbClr val="303336"/>
                </a:solidFill>
                <a:latin typeface="Courier New"/>
                <a:ea typeface="Courier New"/>
                <a:cs typeface="Courier New"/>
                <a:sym typeface="Courier New"/>
              </a:rPr>
              <a:t>, </a:t>
            </a:r>
            <a:r>
              <a:rPr b="0" i="0" lang="en-US" sz="1400" u="none" cap="none" strike="noStrike">
                <a:solidFill>
                  <a:srgbClr val="7D2727"/>
                </a:solidFill>
                <a:latin typeface="Courier New"/>
                <a:ea typeface="Courier New"/>
                <a:cs typeface="Courier New"/>
                <a:sym typeface="Courier New"/>
              </a:rPr>
              <a:t>4</a:t>
            </a:r>
            <a:r>
              <a:rPr b="0" i="0" lang="en-US" sz="1400" u="none" cap="none" strike="noStrike">
                <a:solidFill>
                  <a:srgbClr val="303336"/>
                </a:solidFill>
                <a:latin typeface="Courier New"/>
                <a:ea typeface="Courier New"/>
                <a:cs typeface="Courier New"/>
                <a:sym typeface="Courier New"/>
              </a:rPr>
              <a:t>): </a:t>
            </a:r>
            <a:endParaRPr/>
          </a:p>
          <a:p>
            <a:pPr indent="0" lvl="0" marL="0" marR="0" rtl="0" algn="l">
              <a:spcBef>
                <a:spcPts val="0"/>
              </a:spcBef>
              <a:spcAft>
                <a:spcPts val="0"/>
              </a:spcAft>
              <a:buNone/>
            </a:pPr>
            <a:r>
              <a:rPr b="0" i="0" lang="en-US" sz="1400" u="none" cap="none" strike="noStrike">
                <a:solidFill>
                  <a:srgbClr val="303336"/>
                </a:solidFill>
                <a:latin typeface="Courier New"/>
                <a:ea typeface="Courier New"/>
                <a:cs typeface="Courier New"/>
                <a:sym typeface="Courier New"/>
              </a:rPr>
              <a:t>  squares.append(x * x) </a:t>
            </a:r>
            <a:endParaRPr/>
          </a:p>
          <a:p>
            <a:pPr indent="0" lvl="0" marL="0" marR="0" rtl="0" algn="l">
              <a:spcBef>
                <a:spcPts val="0"/>
              </a:spcBef>
              <a:spcAft>
                <a:spcPts val="0"/>
              </a:spcAft>
              <a:buNone/>
            </a:pPr>
            <a:r>
              <a:rPr b="0" i="0" lang="en-US" sz="1400" u="none" cap="none" strike="noStrike">
                <a:solidFill>
                  <a:srgbClr val="858C93"/>
                </a:solidFill>
                <a:latin typeface="Courier New"/>
                <a:ea typeface="Courier New"/>
                <a:cs typeface="Courier New"/>
                <a:sym typeface="Courier New"/>
              </a:rPr>
              <a:t># squares: [1, 4, 9, 16]</a:t>
            </a:r>
            <a:endParaRPr/>
          </a:p>
          <a:p>
            <a:pPr indent="0" lvl="0" marL="0" marR="0" rtl="0" algn="l">
              <a:spcBef>
                <a:spcPts val="0"/>
              </a:spcBef>
              <a:spcAft>
                <a:spcPts val="0"/>
              </a:spcAft>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242729"/>
                </a:solidFill>
                <a:latin typeface="Arial"/>
                <a:ea typeface="Arial"/>
                <a:cs typeface="Arial"/>
                <a:sym typeface="Arial"/>
              </a:rPr>
              <a:t>The expression applied to each element can be as complex as needed:</a:t>
            </a:r>
            <a:endParaRPr b="0" i="0" sz="3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8" name="Google Shape;98;p15"/>
          <p:cNvPicPr preferRelativeResize="0"/>
          <p:nvPr/>
        </p:nvPicPr>
        <p:blipFill rotWithShape="1">
          <a:blip r:embed="rId5">
            <a:alphaModFix/>
          </a:blip>
          <a:srcRect b="0" l="0" r="0" t="0"/>
          <a:stretch/>
        </p:blipFill>
        <p:spPr>
          <a:xfrm>
            <a:off x="665018" y="2462299"/>
            <a:ext cx="6896100" cy="2781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else</a:t>
            </a:r>
            <a:endParaRPr/>
          </a:p>
        </p:txBody>
      </p:sp>
      <p:sp>
        <p:nvSpPr>
          <p:cNvPr id="104" name="Google Shape;10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else can be used in List comprehension constructs, but be careful regarding the syntax. The if/else clauses should be used before for loop, not after:</a:t>
            </a:r>
            <a:endParaRPr/>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228600" lvl="0" marL="228600" rtl="0" algn="l">
              <a:lnSpc>
                <a:spcPct val="90000"/>
              </a:lnSpc>
              <a:spcBef>
                <a:spcPts val="1000"/>
              </a:spcBef>
              <a:spcAft>
                <a:spcPts val="0"/>
              </a:spcAft>
              <a:buClr>
                <a:schemeClr val="dk1"/>
              </a:buClr>
              <a:buSzPts val="1600"/>
              <a:buChar char="•"/>
            </a:pPr>
            <a:r>
              <a:rPr lang="en-US" sz="1600"/>
              <a:t>Note this uses a different language construct, a conditional expression, which itself is not part of the comprehension syntax. Whereas the if after the for…in is a part of list comprehensions and used to filter elements from the source iterable.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5" name="Google Shape;105;p16"/>
          <p:cNvPicPr preferRelativeResize="0"/>
          <p:nvPr/>
        </p:nvPicPr>
        <p:blipFill rotWithShape="1">
          <a:blip r:embed="rId3">
            <a:alphaModFix/>
          </a:blip>
          <a:srcRect b="0" l="0" r="0" t="0"/>
          <a:stretch/>
        </p:blipFill>
        <p:spPr>
          <a:xfrm>
            <a:off x="838200" y="2431126"/>
            <a:ext cx="6048375" cy="2095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Double Iteration</a:t>
            </a:r>
            <a:endParaRPr/>
          </a:p>
        </p:txBody>
      </p:sp>
      <p:sp>
        <p:nvSpPr>
          <p:cNvPr id="111" name="Google Shape;1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7500" lnSpcReduction="20000"/>
          </a:bodyPr>
          <a:lstStyle/>
          <a:p>
            <a:pPr indent="-228600" lvl="0" marL="228600" rtl="0" algn="l">
              <a:lnSpc>
                <a:spcPct val="90000"/>
              </a:lnSpc>
              <a:spcBef>
                <a:spcPts val="0"/>
              </a:spcBef>
              <a:spcAft>
                <a:spcPts val="0"/>
              </a:spcAft>
              <a:buClr>
                <a:schemeClr val="dk1"/>
              </a:buClr>
              <a:buSzPct val="100000"/>
              <a:buChar char="•"/>
            </a:pPr>
            <a:r>
              <a:rPr lang="en-US"/>
              <a:t>Order of double iteration [... for x in ... for y in ...] is either natural or counter-intuitive. The rule of thumb is to follow an equivalent for loop:</a:t>
            </a:r>
            <a:endParaRPr/>
          </a:p>
          <a:p>
            <a:pPr indent="-14414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def foo(i):</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return i, i + 0.5</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for i in range(3):</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for x in foo(i):</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yield str(x)</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This becomes:</a:t>
            </a:r>
            <a:endParaRPr/>
          </a:p>
          <a:p>
            <a:pPr indent="-14414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[str(x)</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for i in range(3)</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for x in foo(i)</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a:t>
            </a:r>
            <a:endParaRPr/>
          </a:p>
          <a:p>
            <a:pPr indent="-228600" lvl="0" marL="228600" rtl="0" algn="l">
              <a:lnSpc>
                <a:spcPct val="90000"/>
              </a:lnSpc>
              <a:spcBef>
                <a:spcPts val="1000"/>
              </a:spcBef>
              <a:spcAft>
                <a:spcPts val="0"/>
              </a:spcAft>
              <a:buClr>
                <a:schemeClr val="dk1"/>
              </a:buClr>
              <a:buSzPct val="100000"/>
              <a:buChar char="•"/>
            </a:pPr>
            <a:r>
              <a:rPr lang="en-US"/>
              <a:t>This can be compressed into one line as [str(x) for i in range(3) for x in foo(i)]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In-place Mutation and Other Side Effects</a:t>
            </a:r>
            <a:endParaRPr/>
          </a:p>
        </p:txBody>
      </p:sp>
      <p:sp>
        <p:nvSpPr>
          <p:cNvPr id="117" name="Google Shape;11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Before using list comprehension, understand the difference between functions called for their side effects (mutating, or in-place functions) which usually return None, and functions that return an interesting value.</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Many functions (especially pure functions) simply take an object and return some object. An in-place function modifies the existing object, which is called a side effect. Other examples include input and output operations such as printing.</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idx="1" type="body"/>
          </p:nvPr>
        </p:nvSpPr>
        <p:spPr>
          <a:xfrm>
            <a:off x="838200" y="307571"/>
            <a:ext cx="10515600" cy="5869392"/>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list.sort() sorts a list in-place (meaning that it modifies the original list) and returns the value None. Therefore, it won't work as expected in a list comprehension:</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[x.sort() for x in [[2, 1], [4, 3], [0, 1]]]</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[None, None, None]</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Instead, sorted() returns a sorted list rather than sorting in-place:</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[sorted(x) for x in [[2, 1], [4, 3], [0, 1]]]</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[[1, 2], [3, 4], [0, 1]]</a:t>
            </a:r>
            <a:endParaRPr/>
          </a:p>
          <a:p>
            <a:pPr indent="-228600" lvl="0" marL="228600" rtl="0" algn="l">
              <a:lnSpc>
                <a:spcPct val="90000"/>
              </a:lnSpc>
              <a:spcBef>
                <a:spcPts val="1000"/>
              </a:spcBef>
              <a:spcAft>
                <a:spcPts val="0"/>
              </a:spcAft>
              <a:buClr>
                <a:schemeClr val="dk1"/>
              </a:buClr>
              <a:buSzPct val="100000"/>
              <a:buChar char="•"/>
            </a:pPr>
            <a:r>
              <a:rPr lang="en-US"/>
              <a:t>Using comprehensions for side-effects is possible, such as I/O or in-place functions. Yet a for loop is usually more readable. While this works in Python 3:</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[print(x) for x in (1, 2, 3)]</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Instead use:</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for x in (1, 2, 3):</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print(x)</a:t>
            </a:r>
            <a:endParaRPr>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1" type="body"/>
          </p:nvPr>
        </p:nvSpPr>
        <p:spPr>
          <a:xfrm>
            <a:off x="838200" y="615142"/>
            <a:ext cx="10515600" cy="55618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some situations, side effect functions are suitable for list comprehension. random.randrange() has the side effect of changing the state of the random number generator, but it also returns an interesting value. Additionally, next() can be called on an iterator.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following random value generator is not pure, yet makes sense as the random generator is reset every time the expression is evaluated:</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from random import randrange</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[randrange(1, 7) for _ in range(10)]</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 [2, 3, 2, 1, 1, 5, 2, 4, 3, 5]</a:t>
            </a:r>
            <a:endParaRPr>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Whitespace in list comprehensions</a:t>
            </a:r>
            <a:endParaRPr/>
          </a:p>
        </p:txBody>
      </p:sp>
      <p:sp>
        <p:nvSpPr>
          <p:cNvPr id="133" name="Google Shape;13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More complicated list comprehensions can reach an undesired length, or become less readable. Although less common in examples, it is possible to break a list comprehension into multiple lines like so:</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    x for x</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    in 'foo'</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    if x not in 'bar'</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Avoid repetitive and expensive operations using conditional clause</a:t>
            </a:r>
            <a:endParaRPr/>
          </a:p>
        </p:txBody>
      </p:sp>
      <p:sp>
        <p:nvSpPr>
          <p:cNvPr id="139" name="Google Shape;13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Consider the below list comprehension:</a:t>
            </a:r>
            <a:endParaRPr/>
          </a:p>
          <a:p>
            <a:pPr indent="-9080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def f(x):</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import time</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time.sleep(.1)   # Simulate expensive function</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return x**2</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[f(x) for x in range(1000) if f(x) &gt;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[16, 25, 36, ...]</a:t>
            </a:r>
            <a:endParaRPr/>
          </a:p>
          <a:p>
            <a:pPr indent="-9080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This results in two calls to f(x) for 1,000 values of x: one call for generating the value and the other for checking the if condition. If f(x) is a particularly expensive operation, this can have significant performance implications. Worse, if calling f() has side effects, it can have surprising results.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idx="1" type="body"/>
          </p:nvPr>
        </p:nvSpPr>
        <p:spPr>
          <a:xfrm>
            <a:off x="838200" y="374073"/>
            <a:ext cx="10515600" cy="5802890"/>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Instead, you should evaluate the expensive operation only once for each value of x by generating an intermediate iterable (generator expression) as follows:</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[v for v in (f(x) for x in range(1000)) if v &gt;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[16, 25, 36, ...]</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Or, using the builtin map equivalent:</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[v for v in map(f, range(1000)) if v &gt;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[16, 25, 36, ...]</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Another way that could result in a more readable code is to put the partial result (v in the previous example) in an iterable (such as a list or a tuple) and then iterate over it. Since v will be the only element in the iterable, the result is that we now have a reference to the output of our slow function computed only once:</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[v for x in range(1000) for v in [f(x)] if v &gt;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[16, 25, 36, ...]</a:t>
            </a: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idx="1" type="body"/>
          </p:nvPr>
        </p:nvSpPr>
        <p:spPr>
          <a:xfrm>
            <a:off x="838200" y="324196"/>
            <a:ext cx="10515600" cy="5852767"/>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However, in practice, the logic of code can be more complicated and it's important to keep it readable. In general, a separate generator function is recommended over a complex one-liner:</a:t>
            </a:r>
            <a:endParaRPr/>
          </a:p>
          <a:p>
            <a:pPr indent="-9080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def process_prime_numbers(iterable):</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for x in iterable:</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if is_prime(x):</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yield f(x)</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&gt;&gt;&gt; [x for x in process_prime_numbers(range(1000)) if x &gt;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[11, 13, 17, 19, ...]</a:t>
            </a:r>
            <a:endParaRPr/>
          </a:p>
          <a:p>
            <a:pPr indent="-9080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Another way to prevent computing f(x) multiple times is to use the @functools.lru_cache()(Python 3.2+) decorator on f(x). This way since the output of f for the input x has already been computed once, the second function invocation of the original list comprehension will be as fast as a dictionary lookup. This approach uses memoization to improve efficiency, which is comparable to using generator expressions.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idx="1" type="body"/>
          </p:nvPr>
        </p:nvSpPr>
        <p:spPr>
          <a:xfrm>
            <a:off x="838200" y="448887"/>
            <a:ext cx="10515600" cy="5728076"/>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Say you have to flatten a list</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l = [[1, 2, 3], [4, 5, 6], [7], [8, 9]]</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Some of the methods could be:</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reduce(lambda x, y: x+y, l)</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sum(l,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list(itertools.chain(*l))</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However list comprehension would provide the best time complexity.</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[item for sublist in l for item in sublist]</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shortcuts based on + (including the implied use in sum) are, of necessity, O(L^2) when there are L sublists -- as the intermediate result list keeps getting longer, at each step a new intermediate result list object gets allocated, and all the items in the previous intermediate result must be copied over (as well as a few new ones added at the end).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Dictionary Comprehensions</a:t>
            </a:r>
            <a:endParaRPr/>
          </a:p>
        </p:txBody>
      </p:sp>
      <p:sp>
        <p:nvSpPr>
          <p:cNvPr id="160" name="Google Shape;16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A dictionary comprehension is similar to a list comprehension except that it produces a dictionary object instead of a list.</a:t>
            </a:r>
            <a:endParaRPr/>
          </a:p>
          <a:p>
            <a:pPr indent="-9080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 basic example:</a:t>
            </a:r>
            <a:endParaRPr/>
          </a:p>
          <a:p>
            <a:pPr indent="-228600" lvl="0" marL="228600" rtl="0" algn="l">
              <a:lnSpc>
                <a:spcPct val="90000"/>
              </a:lnSpc>
              <a:spcBef>
                <a:spcPts val="1000"/>
              </a:spcBef>
              <a:spcAft>
                <a:spcPts val="0"/>
              </a:spcAft>
              <a:buClr>
                <a:schemeClr val="dk1"/>
              </a:buClr>
              <a:buSzPct val="100000"/>
              <a:buChar char="•"/>
            </a:pPr>
            <a:r>
              <a:rPr lang="en-US"/>
              <a:t>Python 2.x2.7</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 x * x for x in (1, 2, 3, 4)}</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{1: 1, 2: 4, 3: 9, 4: 16}</a:t>
            </a:r>
            <a:endParaRPr/>
          </a:p>
          <a:p>
            <a:pPr indent="-9080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which is just another way of writing:</a:t>
            </a:r>
            <a:endParaRPr/>
          </a:p>
          <a:p>
            <a:pPr indent="-9080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dict((x, x * x) for x in (1, 2, 3, 4))</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{1: 1, 2: 4, 3: 9, 4: 16}</a:t>
            </a:r>
            <a:endParaRPr/>
          </a:p>
          <a:p>
            <a:pPr indent="-9080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idx="1" type="body"/>
          </p:nvPr>
        </p:nvSpPr>
        <p:spPr>
          <a:xfrm>
            <a:off x="838200" y="532015"/>
            <a:ext cx="10515600" cy="564494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As with a list comprehension, we can use a conditional statement inside the dict comprehension to produce only the dict elements meeting some criterion.</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Python 2.x2.7</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{name: len(name) for name in ('Stack', 'Overflow', 'Exchange') if len(name) &gt; 6}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{'Exchange': 8, 'Overflow': 8}</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Or, rewritten using a generator expression.</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dict((name, len(name)) for name in ('Stack', 'Overflow', 'Exchange') if len(name) &gt; 6)</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{'Exchange': 8, 'Overflow': 8}</a:t>
            </a:r>
            <a:endParaRPr>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Starting with a dictionary and using dictionary comprehension as a key-value pair filter</a:t>
            </a:r>
            <a:endParaRPr/>
          </a:p>
        </p:txBody>
      </p:sp>
      <p:sp>
        <p:nvSpPr>
          <p:cNvPr id="171" name="Google Shape;17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Python 2.x2.7</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initial_dict = {'x': 1, 'y': 2}</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{key: value for key, value in initial_dict.items() if key == 'x'}</a:t>
            </a:r>
            <a:endParaRPr/>
          </a:p>
          <a:p>
            <a:pPr indent="0" lvl="0" marL="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 Out: {'x': 1}</a:t>
            </a:r>
            <a:endParaRPr/>
          </a:p>
          <a:p>
            <a:pPr indent="0" lvl="0" marL="0" rtl="0" algn="l">
              <a:lnSpc>
                <a:spcPct val="90000"/>
              </a:lnSpc>
              <a:spcBef>
                <a:spcPts val="1000"/>
              </a:spcBef>
              <a:spcAft>
                <a:spcPts val="0"/>
              </a:spcAft>
              <a:buClr>
                <a:schemeClr val="dk1"/>
              </a:buClr>
              <a:buSzPts val="2800"/>
              <a:buNone/>
            </a:pPr>
            <a:r>
              <a:t/>
            </a:r>
            <a:endParaRPr>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Switching key and value of dictionary (invert dictionary)</a:t>
            </a:r>
            <a:endParaRPr/>
          </a:p>
        </p:txBody>
      </p:sp>
      <p:sp>
        <p:nvSpPr>
          <p:cNvPr id="177" name="Google Shape;177;p29"/>
          <p:cNvSpPr txBox="1"/>
          <p:nvPr>
            <p:ph idx="1" type="body"/>
          </p:nvPr>
        </p:nvSpPr>
        <p:spPr>
          <a:xfrm>
            <a:off x="838200" y="1825625"/>
            <a:ext cx="10515600" cy="4699866"/>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If you have a dict containing simple hashable values (duplicate values may have unexpected results):</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my_dict = {1: 'a', 2: 'b', 3: 'c'}</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and you wanted to swap the keys and values you can take several approaches depending on your coding style:</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swapped = {v: k for k, v in my_dict.items()}</a:t>
            </a:r>
            <a:endParaRPr/>
          </a:p>
          <a:p>
            <a:pPr indent="-228600" lvl="0" marL="228600" rtl="0" algn="l">
              <a:lnSpc>
                <a:spcPct val="90000"/>
              </a:lnSpc>
              <a:spcBef>
                <a:spcPts val="1000"/>
              </a:spcBef>
              <a:spcAft>
                <a:spcPts val="0"/>
              </a:spcAft>
              <a:buClr>
                <a:schemeClr val="dk1"/>
              </a:buClr>
              <a:buSzPct val="100000"/>
              <a:buChar char="•"/>
            </a:pPr>
            <a:r>
              <a:rPr lang="en-US"/>
              <a:t>swapped = dict((v, k) for k, v in my_dict.iteritems())</a:t>
            </a:r>
            <a:endParaRPr/>
          </a:p>
          <a:p>
            <a:pPr indent="-228600" lvl="0" marL="228600" rtl="0" algn="l">
              <a:lnSpc>
                <a:spcPct val="90000"/>
              </a:lnSpc>
              <a:spcBef>
                <a:spcPts val="1000"/>
              </a:spcBef>
              <a:spcAft>
                <a:spcPts val="0"/>
              </a:spcAft>
              <a:buClr>
                <a:schemeClr val="dk1"/>
              </a:buClr>
              <a:buSzPct val="100000"/>
              <a:buChar char="•"/>
            </a:pPr>
            <a:r>
              <a:rPr lang="en-US"/>
              <a:t>swapped = dict(zip(my_dict.values(), my_dict))</a:t>
            </a:r>
            <a:endParaRPr/>
          </a:p>
          <a:p>
            <a:pPr indent="-228600" lvl="0" marL="228600" rtl="0" algn="l">
              <a:lnSpc>
                <a:spcPct val="90000"/>
              </a:lnSpc>
              <a:spcBef>
                <a:spcPts val="1000"/>
              </a:spcBef>
              <a:spcAft>
                <a:spcPts val="0"/>
              </a:spcAft>
              <a:buClr>
                <a:schemeClr val="dk1"/>
              </a:buClr>
              <a:buSzPct val="100000"/>
              <a:buChar char="•"/>
            </a:pPr>
            <a:r>
              <a:rPr lang="en-US"/>
              <a:t>swapped = dict(zip(my_dict.values(), my_dict.keys()))</a:t>
            </a:r>
            <a:endParaRPr/>
          </a:p>
          <a:p>
            <a:pPr indent="-228600" lvl="0" marL="228600" rtl="0" algn="l">
              <a:lnSpc>
                <a:spcPct val="90000"/>
              </a:lnSpc>
              <a:spcBef>
                <a:spcPts val="1000"/>
              </a:spcBef>
              <a:spcAft>
                <a:spcPts val="0"/>
              </a:spcAft>
              <a:buClr>
                <a:schemeClr val="dk1"/>
              </a:buClr>
              <a:buSzPct val="100000"/>
              <a:buChar char="•"/>
            </a:pPr>
            <a:r>
              <a:rPr lang="en-US"/>
              <a:t>swapped = dict(map(reversed, my_dict.items()))</a:t>
            </a:r>
            <a:endParaRPr/>
          </a:p>
          <a:p>
            <a:pPr indent="-11747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print(swapped)</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{a: 1, b: 2, c: 3}</a:t>
            </a:r>
            <a:endParaRPr/>
          </a:p>
          <a:p>
            <a:pPr indent="-117475" lvl="0" marL="228600" rtl="0" algn="l">
              <a:lnSpc>
                <a:spcPct val="90000"/>
              </a:lnSpc>
              <a:spcBef>
                <a:spcPts val="1000"/>
              </a:spcBef>
              <a:spcAft>
                <a:spcPts val="0"/>
              </a:spcAft>
              <a:buClr>
                <a:schemeClr val="dk1"/>
              </a:buClr>
              <a:buSzPct val="100000"/>
              <a:buNone/>
            </a:pPr>
            <a:r>
              <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Merging Dictionaries</a:t>
            </a:r>
            <a:endParaRPr/>
          </a:p>
        </p:txBody>
      </p:sp>
      <p:sp>
        <p:nvSpPr>
          <p:cNvPr id="183" name="Google Shape;18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Combine dictionaries and optionally override old values with a nested dictionary comprehension.</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dict1 = {'w': 1, 'x': 1}</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dict2 = {'x': 2, 'y': 2, 'z': 2}</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{k: v for d in [dict1, dict2] for k, v in d.items()}</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{'w': 1, 'x': 2, 'y': 2, 'z': 2}</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However, dictionary unpacking (PEP 448) may be a preferred.</a:t>
            </a:r>
            <a:endParaRPr/>
          </a:p>
          <a:p>
            <a:pPr indent="-228600" lvl="0" marL="228600" rtl="0" algn="l">
              <a:lnSpc>
                <a:spcPct val="90000"/>
              </a:lnSpc>
              <a:spcBef>
                <a:spcPts val="1000"/>
              </a:spcBef>
              <a:spcAft>
                <a:spcPts val="0"/>
              </a:spcAft>
              <a:buClr>
                <a:schemeClr val="dk1"/>
              </a:buClr>
              <a:buSzPct val="100000"/>
              <a:buChar char="•"/>
            </a:pPr>
            <a:r>
              <a:rPr lang="en-US"/>
              <a:t>Python 3.x3.5</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{**dict1, **dict2}</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{'w': 1, 'x': 2, 'y': 2, 'z': 2}</a:t>
            </a:r>
            <a:endParaRPr>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Generator Expressions</a:t>
            </a:r>
            <a:endParaRPr/>
          </a:p>
        </p:txBody>
      </p:sp>
      <p:sp>
        <p:nvSpPr>
          <p:cNvPr id="189" name="Google Shape;189;p31"/>
          <p:cNvSpPr txBox="1"/>
          <p:nvPr>
            <p:ph idx="1" type="body"/>
          </p:nvPr>
        </p:nvSpPr>
        <p:spPr>
          <a:xfrm>
            <a:off x="838200" y="1388224"/>
            <a:ext cx="10515600" cy="5187143"/>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dk1"/>
              </a:buClr>
              <a:buSzPct val="100000"/>
              <a:buChar char="•"/>
            </a:pPr>
            <a:r>
              <a:rPr lang="en-US"/>
              <a:t>Generator expressions are very similar to list comprehensions. The main difference is that it does not create a full set of results at once; it creates a generator object which can then be iterated over.</a:t>
            </a:r>
            <a:endParaRPr/>
          </a:p>
          <a:p>
            <a:pPr indent="-13081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For instance, see the difference in the following code:</a:t>
            </a:r>
            <a:endParaRPr/>
          </a:p>
          <a:p>
            <a:pPr indent="-13081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list comprehension</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[x**2 for x in range(10)]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Output: [0, 1, 4, 9, 16, 25, 36, 49, 64, 81]</a:t>
            </a:r>
            <a:endParaRPr/>
          </a:p>
          <a:p>
            <a:pPr indent="-13081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Python 2.x2.4</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generator comprehension</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(x**2 for x in xrange(10))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Output: &lt;generator object &lt;genexpr&gt; at 0x11b4b7c80&gt;</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These are two very different objects:</a:t>
            </a:r>
            <a:endParaRPr/>
          </a:p>
          <a:p>
            <a:pPr indent="-228600" lvl="0" marL="228600" rtl="0" algn="l">
              <a:lnSpc>
                <a:spcPct val="90000"/>
              </a:lnSpc>
              <a:spcBef>
                <a:spcPts val="1000"/>
              </a:spcBef>
              <a:spcAft>
                <a:spcPts val="0"/>
              </a:spcAft>
              <a:buClr>
                <a:schemeClr val="dk1"/>
              </a:buClr>
              <a:buSzPct val="100000"/>
              <a:buChar char="•"/>
            </a:pPr>
            <a:r>
              <a:rPr lang="en-US">
                <a:latin typeface="Courier New"/>
                <a:ea typeface="Courier New"/>
                <a:cs typeface="Courier New"/>
                <a:sym typeface="Courier New"/>
              </a:rPr>
              <a:t>the list comprehension returns a list object whereas the generator comprehension returns a generator.</a:t>
            </a:r>
            <a:endParaRPr/>
          </a:p>
          <a:p>
            <a:pPr indent="-228600" lvl="0" marL="228600" rtl="0" algn="l">
              <a:lnSpc>
                <a:spcPct val="90000"/>
              </a:lnSpc>
              <a:spcBef>
                <a:spcPts val="1000"/>
              </a:spcBef>
              <a:spcAft>
                <a:spcPts val="0"/>
              </a:spcAft>
              <a:buClr>
                <a:schemeClr val="dk1"/>
              </a:buClr>
              <a:buSzPct val="100000"/>
              <a:buChar char="•"/>
            </a:pPr>
            <a:r>
              <a:rPr lang="en-US">
                <a:latin typeface="Courier New"/>
                <a:ea typeface="Courier New"/>
                <a:cs typeface="Courier New"/>
                <a:sym typeface="Courier New"/>
              </a:rPr>
              <a:t>generator objects cannot be indexed and makes use of the next function to get items in order.</a:t>
            </a:r>
            <a:endParaRPr>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idx="1" type="body"/>
          </p:nvPr>
        </p:nvSpPr>
        <p:spPr>
          <a:xfrm>
            <a:off x="838200" y="399011"/>
            <a:ext cx="10515600" cy="577795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Note: We use xrange since it too creates a generator object. If we would use range, a list would be created. Also, xrange exists only in later version of python 2. In python 3, range just returns a generator. For more information, see the Differences between range and xrange functions example.</a:t>
            </a:r>
            <a:endParaRPr sz="1600"/>
          </a:p>
        </p:txBody>
      </p:sp>
      <p:pic>
        <p:nvPicPr>
          <p:cNvPr id="195" name="Google Shape;195;p32"/>
          <p:cNvPicPr preferRelativeResize="0"/>
          <p:nvPr/>
        </p:nvPicPr>
        <p:blipFill rotWithShape="1">
          <a:blip r:embed="rId3">
            <a:alphaModFix/>
          </a:blip>
          <a:srcRect b="0" l="0" r="0" t="0"/>
          <a:stretch/>
        </p:blipFill>
        <p:spPr>
          <a:xfrm>
            <a:off x="838200" y="1293909"/>
            <a:ext cx="6826135" cy="556764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idx="1" type="body"/>
          </p:nvPr>
        </p:nvSpPr>
        <p:spPr>
          <a:xfrm>
            <a:off x="838200" y="374073"/>
            <a:ext cx="10515600" cy="58028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Although both of these can be iterated in a similar way:</a:t>
            </a:r>
            <a:endParaRPr/>
          </a:p>
        </p:txBody>
      </p:sp>
      <p:pic>
        <p:nvPicPr>
          <p:cNvPr id="201" name="Google Shape;201;p33"/>
          <p:cNvPicPr preferRelativeResize="0"/>
          <p:nvPr/>
        </p:nvPicPr>
        <p:blipFill rotWithShape="1">
          <a:blip r:embed="rId3">
            <a:alphaModFix/>
          </a:blip>
          <a:srcRect b="0" l="0" r="0" t="0"/>
          <a:stretch/>
        </p:blipFill>
        <p:spPr>
          <a:xfrm>
            <a:off x="838200" y="809625"/>
            <a:ext cx="3514725" cy="6048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 cases</a:t>
            </a:r>
            <a:endParaRPr/>
          </a:p>
        </p:txBody>
      </p:sp>
      <p:sp>
        <p:nvSpPr>
          <p:cNvPr id="207" name="Google Shape;207;p34"/>
          <p:cNvSpPr txBox="1"/>
          <p:nvPr>
            <p:ph idx="1" type="body"/>
          </p:nvPr>
        </p:nvSpPr>
        <p:spPr>
          <a:xfrm>
            <a:off x="838200" y="1396538"/>
            <a:ext cx="10515600" cy="47804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Generator expressions are lazily evaluated, which means that they generate and return each value only when the generator is iterated. This is often useful when iterating through large datasets, avoiding the need to create a duplicate of the dataset in memory:</a:t>
            </a:r>
            <a:endParaRPr/>
          </a:p>
          <a:p>
            <a:pPr indent="-127000" lvl="0" marL="228600" rtl="0" algn="l">
              <a:lnSpc>
                <a:spcPct val="90000"/>
              </a:lnSpc>
              <a:spcBef>
                <a:spcPts val="1000"/>
              </a:spcBef>
              <a:spcAft>
                <a:spcPts val="0"/>
              </a:spcAft>
              <a:buClr>
                <a:schemeClr val="dk1"/>
              </a:buClr>
              <a:buSzPts val="1600"/>
              <a:buNone/>
            </a:pPr>
            <a:r>
              <a:t/>
            </a:r>
            <a:endParaRPr sz="1600"/>
          </a:p>
          <a:p>
            <a:pPr indent="0" lvl="0" marL="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for square in (x**2 for x in range(1000000)):</a:t>
            </a:r>
            <a:endParaRPr/>
          </a:p>
          <a:p>
            <a:pPr indent="0" lvl="0" marL="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#do something</a:t>
            </a:r>
            <a:endParaRPr sz="16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idx="1" type="body"/>
          </p:nvPr>
        </p:nvSpPr>
        <p:spPr>
          <a:xfrm>
            <a:off x="597131" y="27945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Another common use case is to avoid iterating over an entire iterable if doing so is not necessary. In this example, an item is retrieved from a remote API with each iteration of get_objects(). Thousands of objects may exist, must be retrieved one-by-one, and we only need to know if an object matching a pattern exists. By using a generator expression, when we encounter an object matching the pattern.</a:t>
            </a:r>
            <a:endParaRPr sz="1800"/>
          </a:p>
        </p:txBody>
      </p:sp>
      <p:pic>
        <p:nvPicPr>
          <p:cNvPr id="213" name="Google Shape;213;p35"/>
          <p:cNvPicPr preferRelativeResize="0"/>
          <p:nvPr/>
        </p:nvPicPr>
        <p:blipFill rotWithShape="1">
          <a:blip r:embed="rId3">
            <a:alphaModFix/>
          </a:blip>
          <a:srcRect b="0" l="0" r="0" t="0"/>
          <a:stretch/>
        </p:blipFill>
        <p:spPr>
          <a:xfrm>
            <a:off x="597131" y="1559762"/>
            <a:ext cx="6086475" cy="3705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Set Comprehensions</a:t>
            </a:r>
            <a:endParaRPr/>
          </a:p>
        </p:txBody>
      </p:sp>
      <p:sp>
        <p:nvSpPr>
          <p:cNvPr id="219" name="Google Shape;219;p36"/>
          <p:cNvSpPr txBox="1"/>
          <p:nvPr>
            <p:ph idx="1" type="body"/>
          </p:nvPr>
        </p:nvSpPr>
        <p:spPr>
          <a:xfrm>
            <a:off x="838200" y="1321724"/>
            <a:ext cx="10515600" cy="5353396"/>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dk1"/>
              </a:buClr>
              <a:buSzPct val="100000"/>
              <a:buChar char="•"/>
            </a:pPr>
            <a:r>
              <a:rPr lang="en-US"/>
              <a:t>Set comprehension is similar to list and dictionary comprehension, but it produces a set, which is an unordered collection of unique elements.</a:t>
            </a:r>
            <a:endParaRPr/>
          </a:p>
          <a:p>
            <a:pPr indent="-228600" lvl="0" marL="228600" rtl="0" algn="l">
              <a:lnSpc>
                <a:spcPct val="90000"/>
              </a:lnSpc>
              <a:spcBef>
                <a:spcPts val="1000"/>
              </a:spcBef>
              <a:spcAft>
                <a:spcPts val="0"/>
              </a:spcAft>
              <a:buClr>
                <a:schemeClr val="dk1"/>
              </a:buClr>
              <a:buSzPct val="100000"/>
              <a:buChar char="•"/>
            </a:pPr>
            <a:r>
              <a:rPr lang="en-US"/>
              <a:t>Python 2.x2.7</a:t>
            </a:r>
            <a:endParaRPr/>
          </a:p>
          <a:p>
            <a:pPr indent="-13081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A set containing every value in range(5):</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 for x in range(5)}</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{0, 1, 2, 3, 4}</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A set of even numbers between 1 and 10: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 for x in range(1, 11) if x % 2 == 0}</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{2, 4, 6, 8, 10}</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Unique alphabetic characters in a string of text:</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text = "When in the Course of human events it becomes necessary for one people..."</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{ch.lower() for ch in text if ch.isalpha()}</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set(['a', 'c', 'b', 'e', 'f', 'i', 'h', 'm', 'l', 'o',</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'n', 'p', 's', 'r', 'u', 't', 'w', 'v', 'y'])</a:t>
            </a:r>
            <a:endParaRPr>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Comprehensions involving tuples</a:t>
            </a:r>
            <a:endParaRPr/>
          </a:p>
        </p:txBody>
      </p:sp>
      <p:sp>
        <p:nvSpPr>
          <p:cNvPr id="225" name="Google Shape;225;p37"/>
          <p:cNvSpPr txBox="1"/>
          <p:nvPr>
            <p:ph idx="1" type="body"/>
          </p:nvPr>
        </p:nvSpPr>
        <p:spPr>
          <a:xfrm>
            <a:off x="838200" y="1471354"/>
            <a:ext cx="10515600" cy="516220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The for clause of a list comprehension can specify more than one variable:</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 + y for x, y in [(1, 2), (3, 4), (5, 6)]]</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[3, 7, 11]</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[x + y for x, y in zip([1, 3, 5], [2, 4, 6])]</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[3, 7, 11]</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This is just like regular for loops:</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for x, y in [(1,2), (3,4), (5,6)]:</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print(x+y)</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3</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7</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11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Counting Occurrences Using Comprehension</a:t>
            </a:r>
            <a:endParaRPr/>
          </a:p>
        </p:txBody>
      </p:sp>
      <p:sp>
        <p:nvSpPr>
          <p:cNvPr id="231" name="Google Shape;23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When we want to count the number of items in an iterable, that meet some condition, we can use comprehension to produce an idiomatic syntax:</a:t>
            </a:r>
            <a:endParaRPr/>
          </a:p>
          <a:p>
            <a:pPr indent="-7747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Count the numbers in `range(1000)` that are even and contain the digit `9`:</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print (sum(</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1 for x in range(1000)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if x % 2 == 0 and</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'9' in str(x)</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95</a:t>
            </a:r>
            <a:endParaRPr>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idx="1" type="body"/>
          </p:nvPr>
        </p:nvSpPr>
        <p:spPr>
          <a:xfrm>
            <a:off x="838200" y="498764"/>
            <a:ext cx="10515600" cy="567819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The basic concept can be summarized as:</a:t>
            </a:r>
            <a:endParaRPr/>
          </a:p>
          <a:p>
            <a:pPr indent="-76200" lvl="0" marL="228600" rtl="0" algn="l">
              <a:lnSpc>
                <a:spcPct val="90000"/>
              </a:lnSpc>
              <a:spcBef>
                <a:spcPts val="1000"/>
              </a:spcBef>
              <a:spcAft>
                <a:spcPts val="0"/>
              </a:spcAft>
              <a:buClr>
                <a:schemeClr val="dk1"/>
              </a:buClr>
              <a:buSzPts val="2400"/>
              <a:buNone/>
            </a:pPr>
            <a:r>
              <a:t/>
            </a:r>
            <a:endParaRPr sz="2400"/>
          </a:p>
          <a:p>
            <a:pPr indent="-514350" lvl="0" marL="514350" rtl="0" algn="l">
              <a:lnSpc>
                <a:spcPct val="90000"/>
              </a:lnSpc>
              <a:spcBef>
                <a:spcPts val="1000"/>
              </a:spcBef>
              <a:spcAft>
                <a:spcPts val="0"/>
              </a:spcAft>
              <a:buClr>
                <a:schemeClr val="dk1"/>
              </a:buClr>
              <a:buSzPts val="2400"/>
              <a:buFont typeface="Calibri"/>
              <a:buAutoNum type="arabicPeriod"/>
            </a:pPr>
            <a:r>
              <a:rPr lang="en-US" sz="2400">
                <a:latin typeface="Courier New"/>
                <a:ea typeface="Courier New"/>
                <a:cs typeface="Courier New"/>
                <a:sym typeface="Courier New"/>
              </a:rPr>
              <a:t>Iterate over the elements in range(1000).</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latin typeface="Courier New"/>
                <a:ea typeface="Courier New"/>
                <a:cs typeface="Courier New"/>
                <a:sym typeface="Courier New"/>
              </a:rPr>
              <a:t>Concatenate all the needed if conditions.</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latin typeface="Courier New"/>
                <a:ea typeface="Courier New"/>
                <a:cs typeface="Courier New"/>
                <a:sym typeface="Courier New"/>
              </a:rPr>
              <a:t>Use 1 as expression to return a 1 for each item that meets the conditions.</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latin typeface="Courier New"/>
                <a:ea typeface="Courier New"/>
                <a:cs typeface="Courier New"/>
                <a:sym typeface="Courier New"/>
              </a:rPr>
              <a:t>Sum up all the 1s to determine number of items that meet the conditions.</a:t>
            </a:r>
            <a:endParaRPr/>
          </a:p>
          <a:p>
            <a:pPr indent="-361950" lvl="0" marL="514350" rtl="0" algn="l">
              <a:lnSpc>
                <a:spcPct val="90000"/>
              </a:lnSpc>
              <a:spcBef>
                <a:spcPts val="1000"/>
              </a:spcBef>
              <a:spcAft>
                <a:spcPts val="0"/>
              </a:spcAft>
              <a:buClr>
                <a:schemeClr val="dk1"/>
              </a:buClr>
              <a:buSzPts val="2400"/>
              <a:buFont typeface="Calibri"/>
              <a:buNone/>
            </a:pPr>
            <a:r>
              <a:t/>
            </a:r>
            <a:endParaRPr sz="2400">
              <a:latin typeface="Courier New"/>
              <a:ea typeface="Courier New"/>
              <a:cs typeface="Courier New"/>
              <a:sym typeface="Courier New"/>
            </a:endParaRPr>
          </a:p>
          <a:p>
            <a:pPr indent="-228600" lvl="0" marL="228600" rtl="0" algn="l">
              <a:lnSpc>
                <a:spcPct val="90000"/>
              </a:lnSpc>
              <a:spcBef>
                <a:spcPts val="1000"/>
              </a:spcBef>
              <a:spcAft>
                <a:spcPts val="0"/>
              </a:spcAft>
              <a:buClr>
                <a:schemeClr val="dk1"/>
              </a:buClr>
              <a:buSzPts val="2400"/>
              <a:buChar char="•"/>
            </a:pPr>
            <a:r>
              <a:rPr lang="en-US" sz="2400"/>
              <a:t>Note: Here we are not collecting the 1s in a list (note the absence of square brackets), but we are passing the ones directly to the sum function that is summing them up. This is called a generator expression, which is similar to a Comprehension.</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Changing Types in a List</a:t>
            </a:r>
            <a:endParaRPr/>
          </a:p>
        </p:txBody>
      </p:sp>
      <p:sp>
        <p:nvSpPr>
          <p:cNvPr id="242" name="Google Shape;242;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Quantitative data is often read in as strings that must be converted to numeric types before processing. The types of all list items can be converted with either a List Comprehension or the map() function.</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Convert a list of strings to integers.</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items = ["1","2","3","4"]</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[int(item) for item in items]</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 [1, 2, 3, 4]</a:t>
            </a:r>
            <a:endParaRPr/>
          </a:p>
          <a:p>
            <a:pPr indent="0" lvl="0" marL="0" rtl="0" algn="l">
              <a:lnSpc>
                <a:spcPct val="90000"/>
              </a:lnSpc>
              <a:spcBef>
                <a:spcPts val="1000"/>
              </a:spcBef>
              <a:spcAft>
                <a:spcPts val="0"/>
              </a:spcAft>
              <a:buClr>
                <a:schemeClr val="dk1"/>
              </a:buClr>
              <a:buSzPct val="100000"/>
              <a:buNone/>
            </a:pPr>
            <a:r>
              <a:t/>
            </a:r>
            <a:endParaRPr>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Convert a list of strings to float.</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items = ["1","2","3","4"]</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map(float, items)</a:t>
            </a:r>
            <a:endParaRPr/>
          </a:p>
          <a:p>
            <a:pPr indent="0" lvl="0" marL="0" rtl="0" algn="l">
              <a:lnSpc>
                <a:spcPct val="90000"/>
              </a:lnSpc>
              <a:spcBef>
                <a:spcPts val="1000"/>
              </a:spcBef>
              <a:spcAft>
                <a:spcPts val="0"/>
              </a:spcAft>
              <a:buClr>
                <a:schemeClr val="dk1"/>
              </a:buClr>
              <a:buSzPct val="100000"/>
              <a:buNone/>
            </a:pPr>
            <a:r>
              <a:rPr lang="en-US">
                <a:latin typeface="Courier New"/>
                <a:ea typeface="Courier New"/>
                <a:cs typeface="Courier New"/>
                <a:sym typeface="Courier New"/>
              </a:rPr>
              <a:t># Out:[1.0, 2.0, 3.0, 4.0] </a:t>
            </a:r>
            <a:endParaRPr>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Code snippets</a:t>
            </a:r>
            <a:endParaRPr/>
          </a:p>
        </p:txBody>
      </p:sp>
      <p:sp>
        <p:nvSpPr>
          <p:cNvPr id="248" name="Google Shape;248;p41"/>
          <p:cNvSpPr txBox="1"/>
          <p:nvPr>
            <p:ph idx="1" type="body"/>
          </p:nvPr>
        </p:nvSpPr>
        <p:spPr>
          <a:xfrm>
            <a:off x="838200" y="1354975"/>
            <a:ext cx="10515600" cy="482198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49" name="Google Shape;249;p41"/>
          <p:cNvPicPr preferRelativeResize="0"/>
          <p:nvPr/>
        </p:nvPicPr>
        <p:blipFill rotWithShape="1">
          <a:blip r:embed="rId3">
            <a:alphaModFix/>
          </a:blip>
          <a:srcRect b="0" l="0" r="0" t="0"/>
          <a:stretch/>
        </p:blipFill>
        <p:spPr>
          <a:xfrm>
            <a:off x="838200" y="1354975"/>
            <a:ext cx="8466408" cy="522870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idx="1" type="body"/>
          </p:nvPr>
        </p:nvSpPr>
        <p:spPr>
          <a:xfrm>
            <a:off x="491358" y="567559"/>
            <a:ext cx="6224752" cy="5851142"/>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lang="en-US"/>
              <a:t>SQUARE ALL NON-NEGATIVE NUMBERS SMALLER THAN 10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[x**2 for x in range(10)]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[0, 1, 4, 9, 16, 25, 36, 49, 64, 81]</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NON-NEGATIVE MULTIPLES OF 5 SMALLER THAN 100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[x for x in range(100) if x%5 == 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[0, 5, 10, 15, 20, 25, 30, 35, 40, 45, 50, 55, 60, 65, 70, 75, 80, 85, 90, 95]</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NON-NEGATIVE MULTIPLES OF 3 BUT NOT MULTIPLES OF 6 SMALLER THAN 50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[x for x in range(50) if x%3 == 0 and x%6 != 0]</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[3, 9, 15, 21, 27, 33, 39, 45]</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ALL CONSONANTS IN A GIVEN SENTENCE (WITHOUT REPETITION)</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import string</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punct = string.punctuation + ' '</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vowels = "aeiou"</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phrase = "On second thought, let's not go to Camelot. It is a silly place."</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set([c for c in phrase.lower() if c not in vowels and c not in punct])</a:t>
            </a:r>
            <a:endParaRPr/>
          </a:p>
          <a:p>
            <a:pPr indent="0" lvl="0" marL="0" rtl="0" algn="l">
              <a:lnSpc>
                <a:spcPct val="90000"/>
              </a:lnSpc>
              <a:spcBef>
                <a:spcPts val="1000"/>
              </a:spcBef>
              <a:spcAft>
                <a:spcPts val="0"/>
              </a:spcAft>
              <a:buClr>
                <a:schemeClr val="dk1"/>
              </a:buClr>
              <a:buSzPct val="100000"/>
              <a:buNone/>
            </a:pPr>
            <a:r>
              <a:rPr lang="en-US">
                <a:latin typeface="Bodoni"/>
                <a:ea typeface="Bodoni"/>
                <a:cs typeface="Bodoni"/>
                <a:sym typeface="Bodoni"/>
              </a:rPr>
              <a:t>{'c', 'd', 'g', 'h', 'l', 'm', 'n', 'p', 's', 't', 'y'}</a:t>
            </a:r>
            <a:endParaRPr/>
          </a:p>
          <a:p>
            <a:pPr indent="0" lvl="0" marL="0" rtl="0" algn="l">
              <a:lnSpc>
                <a:spcPct val="90000"/>
              </a:lnSpc>
              <a:spcBef>
                <a:spcPts val="1000"/>
              </a:spcBef>
              <a:spcAft>
                <a:spcPts val="0"/>
              </a:spcAft>
              <a:buClr>
                <a:schemeClr val="dk1"/>
              </a:buClr>
              <a:buSzPct val="100000"/>
              <a:buNone/>
            </a:pPr>
            <a:r>
              <a:t/>
            </a:r>
            <a:endParaRPr/>
          </a:p>
        </p:txBody>
      </p:sp>
      <p:sp>
        <p:nvSpPr>
          <p:cNvPr id="255" name="Google Shape;255;p42"/>
          <p:cNvSpPr txBox="1"/>
          <p:nvPr/>
        </p:nvSpPr>
        <p:spPr>
          <a:xfrm>
            <a:off x="6639727" y="394993"/>
            <a:ext cx="5307724" cy="4647426"/>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FIRST CHARACTER OF EVERY WORD IN A SENTENCE</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[w[0] for w in phrase.split()]</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['O', 's', 't', 'l', 'n', 'g', 't', 'C', 'I', 'i', 'a', 's', 'p']</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SUBSTITUTE ALL VOWELS IN A SENTENCE BY THE CHARACTER ‘0’</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"".join([c if c not in vowels else '0' for c in phrase])</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"On s0c0nd th00ght, l0t's n0t g0 t0 C0m0l0t. It 0s 0 s0lly pl0c0."</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PAIRS OF ELEMENTS DRAWN FROM DIFFERENT LISTS</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words1 = ['Lancelot', 'Robin', 'Galahad']</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words2 = ['Camelot', 'Assyria']</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[(w1,w2) for w1 in words1 for w2 in words2]</a:t>
            </a:r>
            <a:endParaRPr/>
          </a:p>
          <a:p>
            <a:pPr indent="0" lvl="0" marL="0" marR="0" rtl="0" algn="l">
              <a:spcBef>
                <a:spcPts val="0"/>
              </a:spcBef>
              <a:spcAft>
                <a:spcPts val="0"/>
              </a:spcAft>
              <a:buNone/>
            </a:pPr>
            <a:r>
              <a:rPr lang="en-US" sz="1600">
                <a:solidFill>
                  <a:schemeClr val="dk1"/>
                </a:solidFill>
                <a:latin typeface="Bodoni"/>
                <a:ea typeface="Bodoni"/>
                <a:cs typeface="Bodoni"/>
                <a:sym typeface="Bodoni"/>
              </a:rPr>
              <a:t>[('Lancelot', 'Camelot'), ('Lancelot', 'Assyria'), ('Robin', 'Camelot'), ('Robin', 'Assyria'), ('Galahad', 'Camelot'), ('Galahad', 'Assyria')]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